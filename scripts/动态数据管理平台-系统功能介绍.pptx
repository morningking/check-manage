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371600"/>
            <a:ext cx="4114800" cy="411480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0"/>
            <a:ext cx="2743200" cy="2743200"/>
          </a:xfrm>
          <a:prstGeom prst="ellipse">
            <a:avLst/>
          </a:prstGeom>
          <a:solidFill>
            <a:srgbClr val="24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动态数据管理平台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09EFF"/>
                </a:solidFill>
                <a:latin typeface="Microsoft YaHei"/>
              </a:defRPr>
            </a:pPr>
            <a:r>
              <a:t>Dynamic Data Management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383280"/>
            <a:ext cx="137160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4CC"/>
                </a:solidFill>
                <a:latin typeface="Microsoft YaHei"/>
              </a:defRPr>
            </a:pPr>
            <a:r>
              <a:t>低代码驱动的企业级数据管理解决方案</a:t>
            </a:r>
            <a:br/>
            <a:r>
              <a:t>配置即开发，让数据管理更高效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937760"/>
            <a:ext cx="1051560" cy="347472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95604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09EFF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93776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49560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09EFF"/>
                </a:solidFill>
                <a:latin typeface="Microsoft YaHei"/>
              </a:defRPr>
            </a:pPr>
            <a:r>
              <a:t>TypeScript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4937760"/>
            <a:ext cx="2011679" cy="347472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4956048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09EFF"/>
                </a:solidFill>
                <a:latin typeface="Microsoft YaHei"/>
              </a:defRPr>
            </a:pPr>
            <a:r>
              <a:t>Element Plus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4937760"/>
            <a:ext cx="1051560" cy="347472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495604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09EFF"/>
                </a:solidFill>
                <a:latin typeface="Microsoft YaHei"/>
              </a:defRPr>
            </a:pPr>
            <a:r>
              <a:t>Flask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93776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799" y="49560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09EFF"/>
                </a:solidFill>
                <a:latin typeface="Microsoft YaHei"/>
              </a:defRPr>
            </a:pPr>
            <a:r>
              <a:t>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2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平台概述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一套配置驱动的低代码数据管理系统，让非开发人员也能快速构建数据应用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299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页面配置 PageConfig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定义数据集合的字段架构</a:t>
            </a:r>
            <a:br/>
            <a:r>
              <a:t>字段名称、类型、验证规则</a:t>
            </a:r>
            <a:br/>
            <a:r>
              <a:t>以 JSONB 格式存储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920240"/>
            <a:ext cx="640080" cy="64008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299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动态数据 DynamicData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51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所有业务数据统一存储</a:t>
            </a:r>
            <a:br/>
            <a:r>
              <a:t>collection + data JSONB</a:t>
            </a:r>
            <a:br/>
            <a:r>
              <a:t>灵活适应任意数据结构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64592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0" y="1920240"/>
            <a:ext cx="640080" cy="64008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299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菜单管理 Menu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51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将 URL 路径链接到页面配置</a:t>
            </a:r>
            <a:br/>
            <a:r>
              <a:t>动态生成侧边栏导航</a:t>
            </a:r>
            <a:br/>
            <a:r>
              <a:t>支持多级菜单树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工作流程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63440"/>
            <a:ext cx="2377440" cy="16459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09E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管理员配置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定义字段架构</a:t>
            </a:r>
            <a:br/>
            <a:r>
              <a:t>和验证规则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200400" y="5349240"/>
            <a:ext cx="320040" cy="228600"/>
          </a:xfrm>
          <a:prstGeom prst="rightArrow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20440" y="4663440"/>
            <a:ext cx="2377440" cy="16459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09E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5120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系统自动生成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5440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CRUD 页面</a:t>
            </a:r>
            <a:br/>
            <a:r>
              <a:t>表单与表格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89320" y="5349240"/>
            <a:ext cx="320040" cy="228600"/>
          </a:xfrm>
          <a:prstGeom prst="rightArrow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09360" y="4663440"/>
            <a:ext cx="2377440" cy="16459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09E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120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用户使用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440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数据录入</a:t>
            </a:r>
            <a:br/>
            <a:r>
              <a:t>导入 / 导出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778240" y="5349240"/>
            <a:ext cx="320040" cy="228600"/>
          </a:xfrm>
          <a:prstGeom prst="rightArrow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98280" y="4663440"/>
            <a:ext cx="2377440" cy="16459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09E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5120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数据管理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5440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搜索、筛选</a:t>
            </a:r>
            <a:br/>
            <a:r>
              <a:t>关联、对比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3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动态页面配置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管理员通过可视化界面定义字段架构，系统自动生成完整的 CRUD 页面，无需编写代码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4864" cy="73152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09EFF"/>
                </a:solidFill>
                <a:latin typeface="Microsoft YaHei"/>
              </a:defRPr>
            </a:pPr>
            <a: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文本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55448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1554480"/>
            <a:ext cx="54864" cy="73152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6276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09EFF"/>
                </a:solidFill>
                <a:latin typeface="Microsoft YaHei"/>
              </a:defRPr>
            </a:pPr>
            <a:r>
              <a:t>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多行 textarea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55448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1554480"/>
            <a:ext cx="54864" cy="73152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16276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09EFF"/>
                </a:solidFill>
                <a:latin typeface="Microsoft YaHei"/>
              </a:defRPr>
            </a:pPr>
            <a:r>
              <a:t>#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数字 number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155448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1554480"/>
            <a:ext cx="54864" cy="73152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16276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7C23A"/>
                </a:solidFill>
                <a:latin typeface="Microsoft YaHei"/>
              </a:defRPr>
            </a:pPr>
            <a:r>
              <a:t>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下拉 select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155448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75520" y="1554480"/>
            <a:ext cx="54864" cy="73152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16276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7C23A"/>
                </a:solidFill>
                <a:latin typeface="Microsoft YaHei"/>
              </a:defRPr>
            </a:pPr>
            <a:r>
              <a:t>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多选 multiSelect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42316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2423160"/>
            <a:ext cx="54864" cy="73152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4963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7C23A"/>
                </a:solidFill>
                <a:latin typeface="Microsoft YaHei"/>
              </a:defRPr>
            </a:pPr>
            <a:r>
              <a:t>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单选 radio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0" y="242316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0" y="2423160"/>
            <a:ext cx="54864" cy="73152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80" y="24963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7C23A"/>
                </a:solidFill>
                <a:latin typeface="Microsoft YaHei"/>
              </a:defRPr>
            </a:pPr>
            <a:r>
              <a:t>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复选 checkbox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242316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03520" y="2423160"/>
            <a:ext cx="54864" cy="73152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0680" y="24963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A23C"/>
                </a:solidFill>
                <a:latin typeface="Microsoft YaHei"/>
              </a:defRPr>
            </a:pPr>
            <a:r>
              <a:t>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日期 date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242316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2423160"/>
            <a:ext cx="54864" cy="73152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26680" y="24963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A23C"/>
                </a:solidFill>
                <a:latin typeface="Microsoft YaHei"/>
              </a:defRPr>
            </a:pPr>
            <a:r>
              <a:t>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时间 datetime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75520" y="242316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75520" y="2423160"/>
            <a:ext cx="54864" cy="73152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12680" y="24963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A23C"/>
                </a:solidFill>
                <a:latin typeface="Microsoft YaHei"/>
              </a:defRPr>
            </a:pPr>
            <a:r>
              <a:t>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7844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文件 file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329184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" y="3291840"/>
            <a:ext cx="54864" cy="73152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33649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A23C"/>
                </a:solidFill>
                <a:latin typeface="Microsoft YaHei"/>
              </a:defRPr>
            </a:pPr>
            <a:r>
              <a:t>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3474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图片 image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17520" y="329184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017520" y="3291840"/>
            <a:ext cx="54864" cy="731520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54680" y="33649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6C6C"/>
                </a:solidFill>
                <a:latin typeface="Microsoft YaHei"/>
              </a:defRPr>
            </a:pPr>
            <a:r>
              <a:t>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0440" y="3474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关联 relation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03520" y="329184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03520" y="3291840"/>
            <a:ext cx="54864" cy="731520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40680" y="33649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6C6C"/>
                </a:solidFill>
                <a:latin typeface="Microsoft YaHei"/>
              </a:defRPr>
            </a:pPr>
            <a:r>
              <a:t>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06440" y="3474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引用 reference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89520" y="329184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89520" y="3291840"/>
            <a:ext cx="54864" cy="731520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26680" y="33649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6C6C"/>
                </a:solidFill>
                <a:latin typeface="Microsoft YaHei"/>
              </a:defRPr>
            </a:pPr>
            <a:r>
              <a:t>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92440" y="3474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引选 quoteSelect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875520" y="329184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875520" y="3291840"/>
            <a:ext cx="54864" cy="731520"/>
          </a:xfrm>
          <a:prstGeom prst="rect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12680" y="33649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9BF5"/>
                </a:solidFill>
                <a:latin typeface="Microsoft YaHei"/>
              </a:defRPr>
            </a:pPr>
            <a:r>
              <a:t>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78440" y="3474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时间戳 auto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页面配置核心能力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" y="480060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14400" y="4983480"/>
            <a:ext cx="109728" cy="109728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9728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可视化字段编辑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5303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拖拽排序，实时预览表单效果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520440" y="480060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703320" y="4983480"/>
            <a:ext cx="109728" cy="109728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8620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字段验证规则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03320" y="5303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必填、唯一、正则等多种验证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09360" y="480060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492240" y="4983480"/>
            <a:ext cx="109728" cy="109728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7512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选项数据源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92240" y="5303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静态选项 / API接口 / 关联集合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098280" y="480060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281160" y="4983480"/>
            <a:ext cx="109728" cy="109728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46404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自动序号生成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81160" y="5303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支持自定义前缀和编号规则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4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数据关系管理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三种灵活的数据关联模式，覆盖企业数据管理中的各类关系场景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3832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65960" y="1828800"/>
            <a:ext cx="914400" cy="9144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9659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多对多关联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09EFF"/>
                </a:solidFill>
                <a:latin typeface="Microsoft YaHei"/>
              </a:defRPr>
            </a:pPr>
            <a:r>
              <a:t>Relation (M2M)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3566160"/>
            <a:ext cx="2468880" cy="18288"/>
          </a:xfrm>
          <a:prstGeom prst="rect">
            <a:avLst/>
          </a:prstGeom>
          <a:solidFill>
            <a:srgbClr val="303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033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双向关联，两端都可查看</a:t>
            </a:r>
            <a:br/>
            <a:r>
              <a:t>存储于 data_relations 表</a:t>
            </a:r>
            <a:br/>
            <a:r>
              <a:t>支持批量管理关联记录</a:t>
            </a:r>
            <a:br/>
            <a:r>
              <a:t>导入时自动按显示名匹配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20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9EFF"/>
                </a:solidFill>
                <a:latin typeface="Microsoft YaHei"/>
              </a:defRPr>
            </a:pPr>
            <a:r>
              <a:t>示例：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49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4E7ED"/>
                </a:solidFill>
                <a:latin typeface="Microsoft YaHei"/>
              </a:defRPr>
            </a:pPr>
            <a:r>
              <a:t>员工 ⇄ 项目</a:t>
            </a:r>
            <a:br/>
            <a:r>
              <a:t>标签 ⇄ 文章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554480"/>
            <a:ext cx="3383280" cy="45720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554480"/>
            <a:ext cx="3383280" cy="54864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77840" y="1828800"/>
            <a:ext cx="914400" cy="91440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19659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880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父子引用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200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7C23A"/>
                </a:solidFill>
                <a:latin typeface="Microsoft YaHei"/>
              </a:defRPr>
            </a:pPr>
            <a:r>
              <a:t>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3566160"/>
            <a:ext cx="2468880" cy="18288"/>
          </a:xfrm>
          <a:prstGeom prst="rect">
            <a:avLst/>
          </a:prstGeom>
          <a:solidFill>
            <a:srgbClr val="303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7033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子记录存储父记录 ID</a:t>
            </a:r>
            <a:br/>
            <a:r>
              <a:t>支持字段继承 (inheritFields)</a:t>
            </a:r>
            <a:br/>
            <a:r>
              <a:t>父数据变更自动反映到子记录</a:t>
            </a:r>
            <a:br/>
            <a:r>
              <a:t>导入时按主键或显示名匹配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120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C23A"/>
                </a:solidFill>
                <a:latin typeface="Microsoft YaHei"/>
              </a:defRPr>
            </a:pPr>
            <a:r>
              <a:t>示例：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349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4E7ED"/>
                </a:solidFill>
                <a:latin typeface="Microsoft YaHei"/>
              </a:defRPr>
            </a:pPr>
            <a:r>
              <a:t>部门 → 员工</a:t>
            </a:r>
            <a:br/>
            <a:r>
              <a:t>类别 → 商品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1554480"/>
            <a:ext cx="3383280" cy="45720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80" y="1554480"/>
            <a:ext cx="3383280" cy="54864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89720" y="1828800"/>
            <a:ext cx="914400" cy="91440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19659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880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单向引用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00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6A23C"/>
                </a:solidFill>
                <a:latin typeface="Microsoft YaHei"/>
              </a:defRPr>
            </a:pPr>
            <a:r>
              <a:t>QuoteSelect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3566160"/>
            <a:ext cx="2468880" cy="18288"/>
          </a:xfrm>
          <a:prstGeom prst="rect">
            <a:avLst/>
          </a:prstGeom>
          <a:solidFill>
            <a:srgbClr val="303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7033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单方向引用，存储 ID 数组</a:t>
            </a:r>
            <a:br/>
            <a:r>
              <a:t>可选择多条目标记录</a:t>
            </a:r>
            <a:br/>
            <a:r>
              <a:t>不影响被引用方的数据</a:t>
            </a:r>
            <a:br/>
            <a:r>
              <a:t>导入时按显示名自动解析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120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A23C"/>
                </a:solidFill>
                <a:latin typeface="Microsoft YaHei"/>
              </a:defRPr>
            </a:pPr>
            <a:r>
              <a:t>示例：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349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4E7ED"/>
                </a:solidFill>
                <a:latin typeface="Microsoft YaHei"/>
              </a:defRPr>
            </a:pPr>
            <a:r>
              <a:t>订单 → 商品</a:t>
            </a:r>
            <a:br/>
            <a:r>
              <a:t>计划 → 任务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5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数据导入与导出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多格式文件支持，智能数据转换，让数据流转更加便捷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09EFF"/>
                </a:solidFill>
                <a:latin typeface="Microsoft YaHei"/>
              </a:defRPr>
            </a:pPr>
            <a:r>
              <a:t>📥  数据导入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029200" cy="420624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194560"/>
            <a:ext cx="2011680" cy="548640"/>
          </a:xfrm>
          <a:prstGeom prst="roundRect">
            <a:avLst>
              <a:gd name="adj" fmla="val 8000"/>
            </a:avLst>
          </a:prstGeom>
          <a:solidFill>
            <a:srgbClr val="1A2A4A"/>
          </a:solidFill>
          <a:ln w="1905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9EFF"/>
                </a:solidFill>
                <a:latin typeface="Microsoft YaHei"/>
              </a:defRPr>
            </a:pPr>
            <a:r>
              <a:t>Excel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.xlsx / .xls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880360"/>
            <a:ext cx="2011680" cy="548640"/>
          </a:xfrm>
          <a:prstGeom prst="roundRect">
            <a:avLst>
              <a:gd name="adj" fmla="val 8000"/>
            </a:avLst>
          </a:prstGeom>
          <a:solidFill>
            <a:srgbClr val="1A2A4A"/>
          </a:solidFill>
          <a:ln w="1905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26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7C23A"/>
                </a:solidFill>
                <a:latin typeface="Microsoft YaHei"/>
              </a:defRPr>
            </a:pPr>
            <a:r>
              <a:t>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54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.json（新增）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智能导入流程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2336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① 文件解析 — Excel/JSON 统一转为记录数组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34340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② 字段映射 — 表头/key 自动匹配字段标签或标识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6344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③ 标签转值 — labelToValue 将显示文本转为存储值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8348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④ 关联解析 — 自动将关联名称解析为记录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3035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⑤ 逐条保存 — 进度可视化，失败自动跳过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A23C"/>
                </a:solidFill>
                <a:latin typeface="Microsoft YaHei"/>
              </a:defRPr>
            </a:pPr>
            <a:r>
              <a:t>📤  数据导出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011680"/>
            <a:ext cx="5029200" cy="420624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2286000"/>
            <a:ext cx="54864" cy="82296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331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Excel 导出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3347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内置标准导出，值转标签</a:t>
            </a:r>
            <a:br/>
            <a:r>
              <a:t>自动处理关联和引用字段显示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3337560"/>
            <a:ext cx="54864" cy="82296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383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自定义脚本导出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6850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Python 脚本灵活定制</a:t>
            </a:r>
            <a:br/>
            <a:r>
              <a:t>支持页面级和行级导出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4389120"/>
            <a:ext cx="54864" cy="82296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434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模板下载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73659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一键下载 Excel 导入模板</a:t>
            </a:r>
            <a:br/>
            <a:r>
              <a:t>包含字段标题和选项说明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7C23A"/>
                </a:solidFill>
                <a:latin typeface="Microsoft YaHei"/>
              </a:defRPr>
            </a:pPr>
            <a:r>
              <a:t>JSON 导入格式示例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5029200"/>
            <a:ext cx="4389120" cy="1097280"/>
          </a:xfrm>
          <a:prstGeom prst="roundRect">
            <a:avLst>
              <a:gd name="adj" fmla="val 8000"/>
            </a:avLst>
          </a:prstGeom>
          <a:solidFill>
            <a:srgbClr val="0D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50749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7C23A"/>
                </a:solidFill>
                <a:latin typeface="Consolas"/>
              </a:defRPr>
            </a:pPr>
            <a:r>
              <a:t>[</a:t>
            </a:r>
            <a:br/>
            <a:r>
              <a:t>  { "名称": "张三", "状态": "启用" },</a:t>
            </a:r>
            <a:br/>
            <a:r>
              <a:t>  { "标签": ["标签A", "标签B"] }</a:t>
            </a:r>
            <a:br/>
            <a:r>
              <a:t>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6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数据表格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功能丰富的数据表格组件，提供高效的数据浏览与操作体验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783080"/>
            <a:ext cx="548640" cy="54864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47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关键字搜索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48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全字段模糊搜索</a:t>
            </a:r>
            <a:br/>
            <a:r>
              <a:t>实时过滤结果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783080"/>
            <a:ext cx="548640" cy="54864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47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列筛选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148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按列精确筛选</a:t>
            </a:r>
            <a:br/>
            <a:r>
              <a:t>数值/日期区间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75320" y="1783080"/>
            <a:ext cx="548640" cy="54864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847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分页浏览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148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可配置每页条数</a:t>
            </a:r>
            <a:br/>
            <a:r>
              <a:t>快速翻页定位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1089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337560"/>
            <a:ext cx="548640" cy="548640"/>
          </a:xfrm>
          <a:prstGeom prst="ellipse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4015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批量操作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703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多选行操作</a:t>
            </a:r>
            <a:br/>
            <a:r>
              <a:t>批量删除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1089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17720" y="3337560"/>
            <a:ext cx="548640" cy="548640"/>
          </a:xfrm>
          <a:prstGeom prst="ellipse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4015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查看详情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703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全字段展示</a:t>
            </a:r>
            <a:br/>
            <a:r>
              <a:t>关联数据跳转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1089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75320" y="3337560"/>
            <a:ext cx="548640" cy="548640"/>
          </a:xfrm>
          <a:prstGeom prst="ellipse">
            <a:avLst/>
          </a:prstGeom>
          <a:solidFill>
            <a:srgbClr val="337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34015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行内编辑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3703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快捷编辑</a:t>
            </a:r>
            <a:br/>
            <a:r>
              <a:t>乐观锁保护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数据对比功能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212080"/>
            <a:ext cx="10698480" cy="12801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5840" y="5440680"/>
            <a:ext cx="137160" cy="13716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444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备份快照对比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将当前数据与历史备份逐条对比</a:t>
            </a:r>
            <a:br/>
            <a:r>
              <a:t>快速发现数据变更</a:t>
            </a:r>
          </a:p>
        </p:txBody>
      </p:sp>
      <p:sp>
        <p:nvSpPr>
          <p:cNvPr id="41" name="Oval 40"/>
          <p:cNvSpPr/>
          <p:nvPr/>
        </p:nvSpPr>
        <p:spPr>
          <a:xfrm>
            <a:off x="4572000" y="5440680"/>
            <a:ext cx="137160" cy="13716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060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差异可视化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新增 / 修改 / 删除分类标记</a:t>
            </a:r>
            <a:br/>
            <a:r>
              <a:t>变更字段高亮显示</a:t>
            </a:r>
          </a:p>
        </p:txBody>
      </p:sp>
      <p:sp>
        <p:nvSpPr>
          <p:cNvPr id="44" name="Oval 43"/>
          <p:cNvSpPr/>
          <p:nvPr/>
        </p:nvSpPr>
        <p:spPr>
          <a:xfrm>
            <a:off x="8138160" y="5440680"/>
            <a:ext cx="137160" cy="13716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管理员专属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仅管理员可访问</a:t>
            </a:r>
            <a:br/>
            <a:r>
              <a:t>保障数据安全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7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权限管理与审计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基于角色的访问控制 (RBAC) + 完整操作审计，保障数据安全合规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38404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383280" cy="54864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6A23C"/>
                </a:solidFill>
                <a:latin typeface="Microsoft YaHei"/>
              </a:defRPr>
            </a:pPr>
            <a:r>
              <a:t>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管理员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A23C"/>
                </a:solidFill>
                <a:latin typeface="Microsoft YaHei"/>
              </a:defRPr>
            </a:pPr>
            <a:r>
              <a:t>完全访问权限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系统管理（菜单、页面配置、用户）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620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数据读写和删除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638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导入/导出全功能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655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数据对比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673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审计日志查看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554480"/>
            <a:ext cx="3383280" cy="38404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554480"/>
            <a:ext cx="33832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09EFF"/>
                </a:solidFill>
                <a:latin typeface="Microsoft YaHei"/>
              </a:defRPr>
            </a:pPr>
            <a:r>
              <a:t>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开发者 Developer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9EFF"/>
                </a:solidFill>
                <a:latin typeface="Microsoft YaHei"/>
              </a:defRPr>
            </a:pPr>
            <a:r>
              <a:t>配置范围读写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560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访问已授权的菜单页面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8620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数据读写操作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1638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导入/导出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4655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无法访问系统管理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673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无法查看审计日志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1554480"/>
            <a:ext cx="3383280" cy="38404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80" y="1554480"/>
            <a:ext cx="3383280" cy="54864"/>
          </a:xfrm>
          <a:prstGeom prst="rect">
            <a:avLst/>
          </a:prstGeom>
          <a:solidFill>
            <a:srgbClr val="C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0C4CC"/>
                </a:solidFill>
                <a:latin typeface="Microsoft YaHei"/>
              </a:defRPr>
            </a:pPr>
            <a:r>
              <a:t>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访客 Guest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只读访问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560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浏览已授权页面数据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8620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搜索和筛选功能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1638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无法新增/编辑/删除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4655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无法导入数据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7673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无法批量操作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📋  操作审计日志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943600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035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✓  记录所有数据变更操作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6035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✓  操作人 / 时间 / 类型 / 详情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6035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✓  支持按时间范围查询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6035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✓  批量操作统一标记 (Batch ID)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8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现代化全栈技术方案，前后端分离架构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09EFF"/>
                </a:solidFill>
                <a:latin typeface="Microsoft YaHei"/>
              </a:defRPr>
            </a:pPr>
            <a:r>
              <a:t>前端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029200" cy="41148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905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Composition API + &lt;script setup&gt;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304288"/>
            <a:ext cx="914400" cy="237744"/>
          </a:xfrm>
          <a:prstGeom prst="roundRect">
            <a:avLst>
              <a:gd name="adj" fmla="val 8000"/>
            </a:avLst>
          </a:prstGeom>
          <a:solidFill>
            <a:srgbClr val="1A2A4A"/>
          </a:solidFill>
          <a:ln w="9525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30428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09EFF"/>
                </a:solidFill>
                <a:latin typeface="Microsoft YaHei"/>
              </a:defRPr>
            </a:pPr>
            <a:r>
              <a:t>响应式框架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完整类型系统，类型安全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807208"/>
            <a:ext cx="786384" cy="237744"/>
          </a:xfrm>
          <a:prstGeom prst="roundRect">
            <a:avLst>
              <a:gd name="adj" fmla="val 8000"/>
            </a:avLst>
          </a:prstGeom>
          <a:solidFill>
            <a:srgbClr val="1A2A4A"/>
          </a:solidFill>
          <a:ln w="9525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807208"/>
            <a:ext cx="786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09EFF"/>
                </a:solidFill>
                <a:latin typeface="Microsoft YaHei"/>
              </a:defRPr>
            </a:pPr>
            <a:r>
              <a:t>开发语言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Pinia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状态管理，模块化 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310128"/>
            <a:ext cx="786384" cy="237744"/>
          </a:xfrm>
          <a:prstGeom prst="roundRect">
            <a:avLst>
              <a:gd name="adj" fmla="val 8000"/>
            </a:avLst>
          </a:prstGeom>
          <a:solidFill>
            <a:srgbClr val="1A2A4A"/>
          </a:solidFill>
          <a:ln w="9525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310128"/>
            <a:ext cx="786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09EFF"/>
                </a:solidFill>
                <a:latin typeface="Microsoft YaHei"/>
              </a:defRPr>
            </a:pPr>
            <a:r>
              <a:t>状态管理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94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Element Plus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企业级 UI 组件库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813048"/>
            <a:ext cx="914400" cy="237744"/>
          </a:xfrm>
          <a:prstGeom prst="roundRect">
            <a:avLst>
              <a:gd name="adj" fmla="val 8000"/>
            </a:avLst>
          </a:prstGeom>
          <a:solidFill>
            <a:srgbClr val="1A2A4A"/>
          </a:solidFill>
          <a:ln w="9525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81304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09EFF"/>
                </a:solidFill>
                <a:latin typeface="Microsoft YaHei"/>
              </a:defRPr>
            </a:pPr>
            <a:r>
              <a:t>UI 框架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极速热更新，高效构建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4315968"/>
            <a:ext cx="786384" cy="237744"/>
          </a:xfrm>
          <a:prstGeom prst="roundRect">
            <a:avLst>
              <a:gd name="adj" fmla="val 8000"/>
            </a:avLst>
          </a:prstGeom>
          <a:solidFill>
            <a:srgbClr val="1A2A4A"/>
          </a:solidFill>
          <a:ln w="9525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315968"/>
            <a:ext cx="786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09EFF"/>
                </a:solidFill>
                <a:latin typeface="Microsoft YaHei"/>
              </a:defRPr>
            </a:pPr>
            <a:r>
              <a:t>构建工具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Vitest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单元测试，jsdom 环境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4818888"/>
            <a:ext cx="786384" cy="237744"/>
          </a:xfrm>
          <a:prstGeom prst="roundRect">
            <a:avLst>
              <a:gd name="adj" fmla="val 8000"/>
            </a:avLst>
          </a:prstGeom>
          <a:solidFill>
            <a:srgbClr val="1A2A4A"/>
          </a:solidFill>
          <a:ln w="9525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818888"/>
            <a:ext cx="786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09EFF"/>
                </a:solidFill>
                <a:latin typeface="Microsoft YaHei"/>
              </a:defRPr>
            </a:pPr>
            <a:r>
              <a:t>测试框架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7C23A"/>
                </a:solidFill>
                <a:latin typeface="Microsoft YaHei"/>
              </a:defRPr>
            </a:pPr>
            <a:r>
              <a:t>后端 Backend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011680"/>
            <a:ext cx="5029200" cy="41148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905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Python Flask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轻量 Web 框架，13 个蓝图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59" y="2304288"/>
            <a:ext cx="1042416" cy="237744"/>
          </a:xfrm>
          <a:prstGeom prst="roundRect">
            <a:avLst>
              <a:gd name="adj" fmla="val 8000"/>
            </a:avLst>
          </a:prstGeom>
          <a:solidFill>
            <a:srgbClr val="1A2A4A"/>
          </a:solidFill>
          <a:ln w="9525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59" y="2304288"/>
            <a:ext cx="10424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7C23A"/>
                </a:solidFill>
                <a:latin typeface="Microsoft YaHei"/>
              </a:defRPr>
            </a:pPr>
            <a:r>
              <a:t>Web 框架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2788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PostgreSQL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JSONB 动态数据存储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24159" y="2807208"/>
            <a:ext cx="658368" cy="237744"/>
          </a:xfrm>
          <a:prstGeom prst="roundRect">
            <a:avLst>
              <a:gd name="adj" fmla="val 8000"/>
            </a:avLst>
          </a:prstGeom>
          <a:solidFill>
            <a:srgbClr val="1A2A4A"/>
          </a:solidFill>
          <a:ln w="9525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59" y="280720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7C23A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psycopg2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连接池，高效数据库交互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24159" y="3310128"/>
            <a:ext cx="914400" cy="237744"/>
          </a:xfrm>
          <a:prstGeom prst="roundRect">
            <a:avLst>
              <a:gd name="adj" fmla="val 8000"/>
            </a:avLst>
          </a:prstGeom>
          <a:solidFill>
            <a:srgbClr val="1A2A4A"/>
          </a:solidFill>
          <a:ln w="9525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24159" y="3310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7C23A"/>
                </a:solidFill>
                <a:latin typeface="Microsoft YaHei"/>
              </a:defRPr>
            </a:pPr>
            <a:r>
              <a:t>DB 驱动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3794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JWT Auth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Token 认证 + 角色鉴权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24159" y="3813048"/>
            <a:ext cx="530352" cy="237744"/>
          </a:xfrm>
          <a:prstGeom prst="roundRect">
            <a:avLst>
              <a:gd name="adj" fmla="val 8000"/>
            </a:avLst>
          </a:prstGeom>
          <a:solidFill>
            <a:srgbClr val="1A2A4A"/>
          </a:solidFill>
          <a:ln w="9525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24159" y="3813048"/>
            <a:ext cx="530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7C23A"/>
                </a:solidFill>
                <a:latin typeface="Microsoft YaHei"/>
              </a:defRPr>
            </a:pPr>
            <a:r>
              <a:t>认证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Pytest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完整后端测试覆盖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24159" y="4315968"/>
            <a:ext cx="530352" cy="237744"/>
          </a:xfrm>
          <a:prstGeom prst="roundRect">
            <a:avLst>
              <a:gd name="adj" fmla="val 8000"/>
            </a:avLst>
          </a:prstGeom>
          <a:solidFill>
            <a:srgbClr val="1A2A4A"/>
          </a:solidFill>
          <a:ln w="9525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24159" y="4315968"/>
            <a:ext cx="530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7C23A"/>
                </a:solidFill>
                <a:latin typeface="Microsoft YaHei"/>
              </a:defRPr>
            </a:pPr>
            <a:r>
              <a:t>测试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脚本引擎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隔离命名空间执行验证/导出脚本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24159" y="4818888"/>
            <a:ext cx="530352" cy="237744"/>
          </a:xfrm>
          <a:prstGeom prst="roundRect">
            <a:avLst>
              <a:gd name="adj" fmla="val 8000"/>
            </a:avLst>
          </a:prstGeom>
          <a:solidFill>
            <a:srgbClr val="1A2A4A"/>
          </a:solidFill>
          <a:ln w="9525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24159" y="4818888"/>
            <a:ext cx="530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7C23A"/>
                </a:solidFill>
                <a:latin typeface="Microsoft YaHei"/>
              </a:defRPr>
            </a:pPr>
            <a:r>
              <a:t>扩展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📦 核心数据表：dynamic_data (id TEXT PK, collection TEXT, data JSONB, _version INT)  —  所有业务数据统一存储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371600"/>
            <a:ext cx="4114800" cy="411480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0"/>
            <a:ext cx="2743200" cy="2743200"/>
          </a:xfrm>
          <a:prstGeom prst="ellipse">
            <a:avLst/>
          </a:prstGeom>
          <a:solidFill>
            <a:srgbClr val="24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09E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749039"/>
            <a:ext cx="137160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4CC"/>
                </a:solidFill>
                <a:latin typeface="Microsoft YaHei"/>
              </a:defRPr>
            </a:pPr>
            <a:r>
              <a:t>动态数据管理平台  |  低代码  ·  高效率  ·  更安全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120640"/>
            <a:ext cx="1051560" cy="347472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13892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09EFF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512064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51389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09EFF"/>
                </a:solidFill>
                <a:latin typeface="Microsoft YaHei"/>
              </a:defRPr>
            </a:pPr>
            <a:r>
              <a:t>TypeScript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5120640"/>
            <a:ext cx="2011679" cy="347472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5138928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09EFF"/>
                </a:solidFill>
                <a:latin typeface="Microsoft YaHei"/>
              </a:defRPr>
            </a:pPr>
            <a:r>
              <a:t>Element Plus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5120640"/>
            <a:ext cx="1051560" cy="347472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513892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09EFF"/>
                </a:solidFill>
                <a:latin typeface="Microsoft YaHei"/>
              </a:defRPr>
            </a:pPr>
            <a:r>
              <a:t>Flask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512064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799" y="51389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09EFF"/>
                </a:solidFill>
                <a:latin typeface="Microsoft YaHei"/>
              </a:defRPr>
            </a:pPr>
            <a:r>
              <a:t>PostgreSQL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