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371600"/>
            <a:ext cx="4114800" cy="411480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0"/>
            <a:ext cx="2743200" cy="2743200"/>
          </a:xfrm>
          <a:prstGeom prst="ellipse">
            <a:avLst/>
          </a:prstGeom>
          <a:solidFill>
            <a:srgbClr val="244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动态数据管理平台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09EFF"/>
                </a:solidFill>
                <a:latin typeface="Microsoft YaHei"/>
              </a:defRPr>
            </a:pPr>
            <a:r>
              <a:t>Dynamic Data Management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291840"/>
            <a:ext cx="137160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0C4CC"/>
                </a:solidFill>
                <a:latin typeface="Microsoft YaHei"/>
              </a:defRPr>
            </a:pPr>
            <a:r>
              <a:t>配置驱动  ·  灵活高效  ·  零代码扩展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4CC"/>
                </a:solidFill>
                <a:latin typeface="Microsoft YaHei"/>
              </a:defRPr>
            </a:pPr>
            <a:r>
              <a:t>低代码驱动的企业级数据管理解决方案</a:t>
            </a:r>
            <a:br/>
            <a:r>
              <a:t>让非开发人员也能快速构建数据应用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120640"/>
            <a:ext cx="960120" cy="310896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1389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9EFF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5120640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51389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9EFF"/>
                </a:solidFill>
                <a:latin typeface="Microsoft YaHei"/>
              </a:defRPr>
            </a:pPr>
            <a:r>
              <a:t>TypeScript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5120640"/>
            <a:ext cx="1792224" cy="310896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5138928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9EFF"/>
                </a:solidFill>
                <a:latin typeface="Microsoft YaHei"/>
              </a:defRPr>
            </a:pPr>
            <a:r>
              <a:t>Element Plus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15584" y="5120640"/>
            <a:ext cx="960120" cy="310896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1304" y="51389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9EFF"/>
                </a:solidFill>
                <a:latin typeface="Microsoft YaHei"/>
              </a:defRPr>
            </a:pPr>
            <a:r>
              <a:t>Flask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12864" y="5120640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58584" y="51389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9EFF"/>
                </a:solidFill>
                <a:latin typeface="Microsoft YaHei"/>
              </a:defRPr>
            </a:pPr>
            <a:r>
              <a:t>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平台概述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一套配置驱动的低代码数据管理系统，无需编写代码即可创建新业务模块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20240"/>
            <a:ext cx="640080" cy="64008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299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页面配置 PageConfig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定义字段架构和验证规则</a:t>
            </a:r>
            <a:br/>
            <a:r>
              <a:t>JSONB 存储字段定义</a:t>
            </a:r>
            <a:br/>
            <a:r>
              <a:t>17 种控件类型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920240"/>
            <a:ext cx="640080" cy="64008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299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菜单入口 Menu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51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将 URL 链接到 PageConfig</a:t>
            </a:r>
            <a:br/>
            <a:r>
              <a:t>动态生成侧边栏导航</a:t>
            </a:r>
            <a:br/>
            <a:r>
              <a:t>支持 1-3 级菜单树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64592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0" y="1920240"/>
            <a:ext cx="640080" cy="64008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299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自动生成 UI &amp;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51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完整 CRUD 页面</a:t>
            </a:r>
            <a:br/>
            <a:r>
              <a:t>动态表单 + 数据表格</a:t>
            </a:r>
            <a:br/>
            <a:r>
              <a:t>RESTful API 端点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传统方式 vs 本平台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6344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F5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6C6C"/>
                </a:solidFill>
                <a:latin typeface="Microsoft YaHei"/>
              </a:defRPr>
            </a:pPr>
            <a:r>
              <a:t>❌ 传统开发方式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206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每个业务需要新建数据库表 + 编写迁移脚本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41324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后端编写 API 路由、校验逻辑、序列化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70585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前端编写列表页、表单页、详情页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99846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周期长、成本高、修改需要重新发布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66344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7C23A"/>
                </a:solidFill>
                <a:latin typeface="Microsoft YaHei"/>
              </a:defRPr>
            </a:pPr>
            <a:r>
              <a:t>✓ 配置驱动方式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1206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C23A"/>
                </a:solidFill>
                <a:latin typeface="Microsoft YaHei"/>
              </a:defRPr>
            </a:pPr>
            <a:r>
              <a:t>•  定义 PageConfig + Menu，系统自动生成一切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41324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C23A"/>
                </a:solidFill>
                <a:latin typeface="Microsoft YaHei"/>
              </a:defRPr>
            </a:pPr>
            <a:r>
              <a:t>•  无需建表、无需数据库迁移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70585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C23A"/>
                </a:solidFill>
                <a:latin typeface="Microsoft YaHei"/>
              </a:defRPr>
            </a:pPr>
            <a:r>
              <a:t>•  零代码扩展，实时生效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99846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C23A"/>
                </a:solidFill>
                <a:latin typeface="Microsoft YaHei"/>
              </a:defRPr>
            </a:pPr>
            <a:r>
              <a:t>•  修改字段配置即可调整业务逻辑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现代化全栈技术方案，前后端分离架构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237744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905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9EFF"/>
                </a:solidFill>
                <a:latin typeface="Microsoft YaHei"/>
              </a:defRPr>
            </a:pPr>
            <a:r>
              <a:t>🖥  前端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103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Composition API + &lt;script setup&gt;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231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231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完整类型系统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432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Pinia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743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状态管理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632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Element Plus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0632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企业级 UI 组件库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3832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极速 HMR 热更新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554480"/>
            <a:ext cx="5029200" cy="237744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9050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7C23A"/>
                </a:solidFill>
                <a:latin typeface="Microsoft YaHei"/>
              </a:defRPr>
            </a:pPr>
            <a:r>
              <a:t>⚙  后端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1031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Python Flask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03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轻量 Web 框架，13+ 蓝图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4231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4231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JSONB 动态数据存储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7432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psycopg2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43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连接池，高效 DB 交互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0632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JWT 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0632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Token 认证 + 角色鉴权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383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Pytest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3832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241 后端单元测试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数据库核心表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5720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572000"/>
            <a:ext cx="2560320" cy="4572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709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9EFF"/>
                </a:solidFill>
                <a:latin typeface="Consolas"/>
              </a:defRPr>
            </a:pPr>
            <a:r>
              <a:t>dynamic_data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029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所有业务数据统一存储</a:t>
            </a:r>
            <a:br/>
            <a:r>
              <a:t>collection + data JSONB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0440" y="45720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520440" y="4572000"/>
            <a:ext cx="2560320" cy="4572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03320" y="4709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7C23A"/>
                </a:solidFill>
                <a:latin typeface="Consolas"/>
              </a:defRPr>
            </a:pPr>
            <a:r>
              <a:t>page_configs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5029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字段架构定义</a:t>
            </a:r>
            <a:br/>
            <a:r>
              <a:t>fields JSONB 驱动 UI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45720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4572000"/>
            <a:ext cx="2560320" cy="4572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709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A23C"/>
                </a:solidFill>
                <a:latin typeface="Consolas"/>
              </a:defRPr>
            </a:pPr>
            <a:r>
              <a:t>data_relations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029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M:N 关系映射</a:t>
            </a:r>
            <a:br/>
            <a:r>
              <a:t>双向关联自动同步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45720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98280" y="4572000"/>
            <a:ext cx="2560320" cy="45720"/>
          </a:xfrm>
          <a:prstGeom prst="rect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0" y="4709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09BF5"/>
                </a:solidFill>
                <a:latin typeface="Consolas"/>
              </a:defRPr>
            </a:pPr>
            <a:r>
              <a:t>menus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5029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菜单树结构</a:t>
            </a:r>
            <a:br/>
            <a:r>
              <a:t>角色级 RBAC 控制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其他表: users · export_scripts · validation_scripts · etl_tasks · etl_logs · api_keys · operation_logs · backups · backup_settings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核心设计：配置驱动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定义 PageConfig + Menu = 自动生成完整的数据管理页面和 API，无需编写任何代码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56032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09E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定义 PageConfig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管理员通过可视化界面</a:t>
            </a:r>
            <a:br/>
            <a:r>
              <a:t>定义字段名、类型、校验规则</a:t>
            </a:r>
            <a:br/>
            <a:r>
              <a:t>以 JSONB 存储于 page_configs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08960" y="2834640"/>
            <a:ext cx="320040" cy="228600"/>
          </a:xfrm>
          <a:prstGeom prst="rightArrow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645920"/>
            <a:ext cx="2560320" cy="54864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7C23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创建菜单入口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788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将 URL 路径链接到</a:t>
            </a:r>
            <a:br/>
            <a:r>
              <a:t>PageConfig，配置菜单层级</a:t>
            </a:r>
            <a:br/>
            <a:r>
              <a:t>设置角色访问权限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35040" y="2834640"/>
            <a:ext cx="320040" cy="228600"/>
          </a:xfrm>
          <a:prstGeom prst="rightArrow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164592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645920"/>
            <a:ext cx="2560320" cy="54864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A23C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系统自动生成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88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动态页面自动渲染</a:t>
            </a:r>
            <a:br/>
            <a:r>
              <a:t>CRUD 表单 + 数据表格</a:t>
            </a:r>
            <a:br/>
            <a:r>
              <a:t>API 端点即时可用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961120" y="2834640"/>
            <a:ext cx="320040" cy="228600"/>
          </a:xfrm>
          <a:prstGeom prst="rightArrow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1645920"/>
            <a:ext cx="2560320" cy="27432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645920"/>
            <a:ext cx="2560320" cy="54864"/>
          </a:xfrm>
          <a:prstGeom prst="rect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09B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用户开始使用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788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数据录入、搜索、导入导出</a:t>
            </a:r>
            <a:br/>
            <a:r>
              <a:t>关联管理、脚本校验</a:t>
            </a:r>
            <a:br/>
            <a:r>
              <a:t>全功能立即可用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核心优势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292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" y="5212080"/>
            <a:ext cx="109728" cy="109728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5166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零代码扩展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532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新增业务模块无需</a:t>
            </a:r>
            <a:br/>
            <a:r>
              <a:t>编写任何代码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20440" y="50292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03320" y="5212080"/>
            <a:ext cx="109728" cy="109728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5166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无迁移部署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5532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无需数据库迁移</a:t>
            </a:r>
            <a:br/>
            <a:r>
              <a:t>JSONB 自适应结构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50292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2240" y="5212080"/>
            <a:ext cx="109728" cy="109728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5166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实时生效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532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配置修改后</a:t>
            </a:r>
            <a:br/>
            <a:r>
              <a:t>立即反映到 UI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98280" y="50292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81160" y="5212080"/>
            <a:ext cx="109728" cy="109728"/>
          </a:xfrm>
          <a:prstGeom prst="ellipse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5166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统一架构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5532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所有业务共享</a:t>
            </a:r>
            <a:br/>
            <a:r>
              <a:t>同一套 CRUD 引擎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17 种字段控件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覆盖企业数据管理中的各类字段需求，通过配置即可使用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9EFF"/>
                </a:solidFill>
                <a:latin typeface="Microsoft YaHei"/>
              </a:defRPr>
            </a:pPr>
            <a:r>
              <a:t>基础控件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55448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1554480"/>
            <a:ext cx="45720" cy="64008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6276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19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文本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55448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1554480"/>
            <a:ext cx="45720" cy="64008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16276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19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多行文本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55448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554480"/>
            <a:ext cx="45720" cy="64008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16276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719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富文本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155448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86600" y="1554480"/>
            <a:ext cx="45720" cy="64008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16276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#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1719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数字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155448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0" y="1554480"/>
            <a:ext cx="45720" cy="64008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16276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719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日期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7000" y="155448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87000" y="1554480"/>
            <a:ext cx="45720" cy="64008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0" y="16276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DT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1719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日期时间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7C23A"/>
                </a:solidFill>
                <a:latin typeface="Microsoft YaHei"/>
              </a:defRPr>
            </a:pPr>
            <a:r>
              <a:t>选择控件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242316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0" y="2423160"/>
            <a:ext cx="45720" cy="64008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23160" y="24963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7C23A"/>
                </a:solidFill>
                <a:latin typeface="Microsoft YaHei"/>
              </a:defRPr>
            </a:pPr>
            <a:r>
              <a:t>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25877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下拉选择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86200" y="242316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2423160"/>
            <a:ext cx="45720" cy="64008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0" y="24963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7C23A"/>
                </a:solidFill>
                <a:latin typeface="Microsoft YaHei"/>
              </a:defRPr>
            </a:pPr>
            <a:r>
              <a:t>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25877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多选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0" y="242316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0" y="2423160"/>
            <a:ext cx="45720" cy="64008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60" y="24963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7C23A"/>
                </a:solidFill>
                <a:latin typeface="Microsoft YaHei"/>
              </a:defRPr>
            </a:pPr>
            <a:r>
              <a:t>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25877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单选按钮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86600" y="242316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086600" y="2423160"/>
            <a:ext cx="45720" cy="64008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23760" y="24963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7C23A"/>
                </a:solidFill>
                <a:latin typeface="Microsoft YaHei"/>
              </a:defRPr>
            </a:pPr>
            <a:r>
              <a:t>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25877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复选框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A23C"/>
                </a:solidFill>
                <a:latin typeface="Microsoft YaHei"/>
              </a:defRPr>
            </a:pPr>
            <a:r>
              <a:t>文件控件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86000" y="329184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86000" y="3291840"/>
            <a:ext cx="45720" cy="64008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23160" y="33649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A23C"/>
                </a:solidFill>
                <a:latin typeface="Microsoft YaHei"/>
              </a:defRPr>
            </a:pPr>
            <a:r>
              <a:t>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3456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文件上传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86200" y="329184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886200" y="3291840"/>
            <a:ext cx="45720" cy="64008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23360" y="33649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A23C"/>
                </a:solidFill>
                <a:latin typeface="Microsoft YaHei"/>
              </a:defRPr>
            </a:pPr>
            <a:r>
              <a:t>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3456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图片上传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6C6C"/>
                </a:solidFill>
                <a:latin typeface="Microsoft YaHei"/>
              </a:defRPr>
            </a:pPr>
            <a:r>
              <a:t>关联控件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86000" y="416052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286000" y="4160520"/>
            <a:ext cx="45720" cy="640080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23160" y="42336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6C6C"/>
                </a:solidFill>
                <a:latin typeface="Microsoft YaHei"/>
              </a:defRPr>
            </a:pPr>
            <a:r>
              <a:t>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0" y="4325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关联(M:N)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86200" y="416052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86200" y="4160520"/>
            <a:ext cx="45720" cy="640080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23360" y="42336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6C6C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43400" y="4325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引用(父子)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0" y="416052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86400" y="4160520"/>
            <a:ext cx="45720" cy="640080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23560" y="42336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6C6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43600" y="4325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引用选择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5029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09BF5"/>
                </a:solidFill>
                <a:latin typeface="Microsoft YaHei"/>
              </a:defRPr>
            </a:pPr>
            <a:r>
              <a:t>自动控件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286000" y="502920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286000" y="5029200"/>
            <a:ext cx="45720" cy="640080"/>
          </a:xfrm>
          <a:prstGeom prst="rect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23160" y="51023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09BF5"/>
                </a:solidFill>
                <a:latin typeface="Microsoft YaHei"/>
              </a:defRPr>
            </a:pPr>
            <a:r>
              <a:t>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0" y="51937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自动时间戳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886200" y="502920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86200" y="5029200"/>
            <a:ext cx="45720" cy="640080"/>
          </a:xfrm>
          <a:prstGeom prst="rect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023360" y="51023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09BF5"/>
                </a:solidFill>
                <a:latin typeface="Microsoft YaHei"/>
              </a:defRPr>
            </a:pPr>
            <a:r>
              <a:t>S#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43400" y="51937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自动编号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每种控件支持：必填校验 · 唯一性校验 · 正则表达式 · 默认值 · 选项数据源 · 可视化拖拽排序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数据关联体系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三种灵活的关联模式，覆盖企业数据管理中的各类关系场景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3657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3832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65960" y="1828800"/>
            <a:ext cx="822960" cy="82296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9385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多对多关联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09EFF"/>
                </a:solidFill>
                <a:latin typeface="Microsoft YaHei"/>
              </a:defRPr>
            </a:pPr>
            <a:r>
              <a:t>Relation (M2M)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双向关联，两端都可查看</a:t>
            </a:r>
            <a:br/>
            <a:r>
              <a:t>存储于 data_relations 表</a:t>
            </a:r>
            <a:br/>
            <a:r>
              <a:t>批量管理 + 导入自动匹配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9EFF"/>
                </a:solidFill>
                <a:latin typeface="Microsoft YaHei"/>
              </a:defRPr>
            </a:pPr>
            <a:r>
              <a:t>示例: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4E7ED"/>
                </a:solidFill>
                <a:latin typeface="Microsoft YaHei"/>
              </a:defRPr>
            </a:pPr>
            <a:r>
              <a:t>员工 ⇄ 项目</a:t>
            </a:r>
            <a:br/>
            <a:r>
              <a:t>标签 ⇄ 文章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554480"/>
            <a:ext cx="3383280" cy="3657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554480"/>
            <a:ext cx="3383280" cy="54864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77840" y="1828800"/>
            <a:ext cx="822960" cy="82296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19385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788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父子引用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089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7C23A"/>
                </a:solidFill>
                <a:latin typeface="Microsoft YaHei"/>
              </a:defRPr>
            </a:pPr>
            <a:r>
              <a:t>Reference (1:N)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520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子记录存储父记录 ID</a:t>
            </a:r>
            <a:br/>
            <a:r>
              <a:t>支持字段继承 inheritFields</a:t>
            </a:r>
            <a:br/>
            <a:r>
              <a:t>父数据变更自动反映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572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C23A"/>
                </a:solidFill>
                <a:latin typeface="Microsoft YaHei"/>
              </a:defRPr>
            </a:pPr>
            <a:r>
              <a:t>示例: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4E7ED"/>
                </a:solidFill>
                <a:latin typeface="Microsoft YaHei"/>
              </a:defRPr>
            </a:pPr>
            <a:r>
              <a:t>部门 → 员工</a:t>
            </a:r>
            <a:br/>
            <a:r>
              <a:t>类别 → 商品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1554480"/>
            <a:ext cx="3383280" cy="3657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80" y="1554480"/>
            <a:ext cx="3383280" cy="54864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89720" y="1828800"/>
            <a:ext cx="822960" cy="82296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19385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788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单向引用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1089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6A23C"/>
                </a:solidFill>
                <a:latin typeface="Microsoft YaHei"/>
              </a:defRPr>
            </a:pPr>
            <a:r>
              <a:t>QuoteSelect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520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单方向引用，ID 数组</a:t>
            </a:r>
            <a:br/>
            <a:r>
              <a:t>可多选目标记录</a:t>
            </a:r>
            <a:br/>
            <a:r>
              <a:t>不影响被引用方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572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A23C"/>
                </a:solidFill>
                <a:latin typeface="Microsoft YaHei"/>
              </a:defRPr>
            </a:pPr>
            <a:r>
              <a:t>示例: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4E7ED"/>
                </a:solidFill>
                <a:latin typeface="Microsoft YaHei"/>
              </a:defRPr>
            </a:pPr>
            <a:r>
              <a:t>订单 → 商品</a:t>
            </a:r>
            <a:br/>
            <a:r>
              <a:t>计划 → 任务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394960"/>
            <a:ext cx="10698480" cy="10972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关系图谱可视化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基于 force-graph 力导向图展示数据关联网络  ·  单击展开节点  ·  双击跳转记录  ·  按集合名称自动着色  ·  三种关系类型不同线型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动态数据页面功能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一个 DynamicPage.vue 组件自动渲染所有业务数据集合的 CRUD 操作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列表与搜索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表格排序 · 分页浏览</a:t>
            </a:r>
            <a:br/>
            <a:r>
              <a:t>全字段关键词搜索</a:t>
            </a:r>
            <a:br/>
            <a:r>
              <a:t>列筛选 · 分页至1000条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26280" y="1783080"/>
            <a:ext cx="502920" cy="50292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详情查看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全字段格式化展示</a:t>
            </a:r>
            <a:br/>
            <a:r>
              <a:t>关联标签 · 图片预览</a:t>
            </a:r>
            <a:br/>
            <a:r>
              <a:t>引用跳转 · 图谱入口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66760" y="1783080"/>
            <a:ext cx="502920" cy="50292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470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创建 / 编辑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动态表单 · 自动校验</a:t>
            </a:r>
            <a:br/>
            <a:r>
              <a:t>自动时间戳 · 自动编号</a:t>
            </a:r>
            <a:br/>
            <a:r>
              <a:t>乐观锁版本控制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6616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3794760"/>
            <a:ext cx="502920" cy="502920"/>
          </a:xfrm>
          <a:prstGeom prst="ellipse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587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840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批量操作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89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批量选择 · 批量删除</a:t>
            </a:r>
            <a:br/>
            <a:r>
              <a:t>仅管理员可批量操作</a:t>
            </a:r>
            <a:br/>
            <a:r>
              <a:t>引用约束检查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56616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26280" y="3794760"/>
            <a:ext cx="502920" cy="502920"/>
          </a:xfrm>
          <a:prstGeom prst="ellipse">
            <a:avLst/>
          </a:prstGeom>
          <a:solidFill>
            <a:srgbClr val="337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8587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3840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数据导入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389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Excel / JSON 模板导入</a:t>
            </a:r>
            <a:br/>
            <a:r>
              <a:t>自动字段映射</a:t>
            </a:r>
            <a:br/>
            <a:r>
              <a:t>关联名称自动解析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56616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66760" y="3794760"/>
            <a:ext cx="502920" cy="502920"/>
          </a:xfrm>
          <a:prstGeom prst="ellipse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38587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3840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数据导出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389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标准 Excel 导出</a:t>
            </a:r>
            <a:br/>
            <a:r>
              <a:t>自定义脚本导出</a:t>
            </a:r>
            <a:br/>
            <a:r>
              <a:t>JSON/CSV/XML/TXT/HTML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669280"/>
            <a:ext cx="10698480" cy="82296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60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跨页导航:  点击关联标签 → 跳转目标记录   |   数据对比:  当前数据 vs 历史备份，字段级差异追踪   |   模板下载:  一键生成含字段说明的导入模板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ETL 数据管道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可视化编排数据处理流程，6 种步骤类型灵活组合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783080" cy="25603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783080" cy="4572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1874519"/>
            <a:ext cx="502920" cy="50292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4767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HTTP 请求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对接外部 API</a:t>
            </a:r>
            <a:br/>
            <a:r>
              <a:t>自定义请求头和请求体</a:t>
            </a:r>
            <a:br/>
            <a:r>
              <a:t>支持 GET/POST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86000" y="2743200"/>
            <a:ext cx="182880" cy="137160"/>
          </a:xfrm>
          <a:prstGeom prst="rightArrow">
            <a:avLst/>
          </a:prstGeom>
          <a:solidFill>
            <a:srgbClr val="C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3160" y="1645920"/>
            <a:ext cx="1783080" cy="25603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3160" y="1645920"/>
            <a:ext cx="1783080" cy="4572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63240" y="1874519"/>
            <a:ext cx="502920" cy="50292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194767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514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JSON 输入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88036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手动输入数据</a:t>
            </a:r>
            <a:br/>
            <a:r>
              <a:t>JSON 数组或对象</a:t>
            </a:r>
            <a:br/>
            <a:r>
              <a:t>快速测试管道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251960" y="2743200"/>
            <a:ext cx="182880" cy="137160"/>
          </a:xfrm>
          <a:prstGeom prst="rightArrow">
            <a:avLst/>
          </a:prstGeom>
          <a:solidFill>
            <a:srgbClr val="C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9120" y="1645920"/>
            <a:ext cx="1783080" cy="25603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1645920"/>
            <a:ext cx="1783080" cy="4572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0" y="1874519"/>
            <a:ext cx="502920" cy="50292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194767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514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脚本转换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88036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Python 自定义处理</a:t>
            </a:r>
            <a:br/>
            <a:r>
              <a:t>接收 records 列表</a:t>
            </a:r>
            <a:br/>
            <a:r>
              <a:t>返回转换后数据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217920" y="2743200"/>
            <a:ext cx="182880" cy="137160"/>
          </a:xfrm>
          <a:prstGeom prst="rightArrow">
            <a:avLst/>
          </a:prstGeom>
          <a:solidFill>
            <a:srgbClr val="C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55080" y="1645920"/>
            <a:ext cx="1783080" cy="25603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645920"/>
            <a:ext cx="1783080" cy="45720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95160" y="1874519"/>
            <a:ext cx="502920" cy="502920"/>
          </a:xfrm>
          <a:prstGeom prst="ellipse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194767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514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字段映射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88036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字段重命名</a:t>
            </a:r>
            <a:br/>
            <a:r>
              <a:t>源字段 → 目标字段</a:t>
            </a:r>
            <a:br/>
            <a:r>
              <a:t>可选保留未映射字段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183880" y="2743200"/>
            <a:ext cx="182880" cy="137160"/>
          </a:xfrm>
          <a:prstGeom prst="rightArrow">
            <a:avLst/>
          </a:prstGeom>
          <a:solidFill>
            <a:srgbClr val="C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21040" y="1645920"/>
            <a:ext cx="1783080" cy="25603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1645920"/>
            <a:ext cx="1783080" cy="45720"/>
          </a:xfrm>
          <a:prstGeom prst="rect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61120" y="1874519"/>
            <a:ext cx="502920" cy="502920"/>
          </a:xfrm>
          <a:prstGeom prst="ellipse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194767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2514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数据过滤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288036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Python 条件表达式</a:t>
            </a:r>
            <a:br/>
            <a:r>
              <a:t>对每条记录求值</a:t>
            </a:r>
            <a:br/>
            <a:r>
              <a:t>筛选符合条件数据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0149840" y="2743200"/>
            <a:ext cx="182880" cy="137160"/>
          </a:xfrm>
          <a:prstGeom prst="rightArrow">
            <a:avLst/>
          </a:prstGeom>
          <a:solidFill>
            <a:srgbClr val="C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87000" y="1645920"/>
            <a:ext cx="1783080" cy="25603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87000" y="1645920"/>
            <a:ext cx="1783080" cy="45720"/>
          </a:xfrm>
          <a:prstGeom prst="rect">
            <a:avLst/>
          </a:prstGeom>
          <a:solidFill>
            <a:srgbClr val="337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27080" y="1874519"/>
            <a:ext cx="502920" cy="502920"/>
          </a:xfrm>
          <a:prstGeom prst="ellipse">
            <a:avLst/>
          </a:prstGeom>
          <a:solidFill>
            <a:srgbClr val="337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27080" y="194767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2514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保存到集合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288036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写入目标数据集合</a:t>
            </a:r>
            <a:br/>
            <a:r>
              <a:t>自动关联处理</a:t>
            </a:r>
            <a:br/>
            <a:r>
              <a:t>完成 ETL 落地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执行与调试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49377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4400" y="5120640"/>
            <a:ext cx="109728" cy="109728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试运行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4406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Dry-run 模式</a:t>
            </a:r>
            <a:br/>
            <a:r>
              <a:t>不写入数据库</a:t>
            </a:r>
            <a:br/>
            <a:r>
              <a:t>安全验证管道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520440" y="49377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703320" y="5120640"/>
            <a:ext cx="109728" cy="109728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192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执行日志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03320" y="54406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每步骤独立记录</a:t>
            </a:r>
            <a:br/>
            <a:r>
              <a:t>输入输出数据</a:t>
            </a:r>
            <a:br/>
            <a:r>
              <a:t>错误详细追踪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0" y="49377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92240" y="5120640"/>
            <a:ext cx="109728" cy="109728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084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错误策略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54406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停止 / 跳过 / 继续</a:t>
            </a:r>
            <a:br/>
            <a:r>
              <a:t>灵活应对异常</a:t>
            </a:r>
            <a:br/>
            <a:r>
              <a:t>保障数据质量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98280" y="49377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281160" y="5120640"/>
            <a:ext cx="109728" cy="109728"/>
          </a:xfrm>
          <a:prstGeom prst="ellipse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0976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定时执行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81160" y="54406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支持定时调度</a:t>
            </a:r>
            <a:br/>
            <a:r>
              <a:t>周期性数据同步</a:t>
            </a:r>
            <a:br/>
            <a:r>
              <a:t>自动化运维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9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脚本引擎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内置 Python 沙箱执行环境，支持校验脚本和导出脚本，通过 CodeMirror 6 在线编辑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47548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905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9EFF"/>
                </a:solidFill>
                <a:latin typeface="Microsoft YaHei"/>
              </a:defRPr>
            </a:pPr>
            <a:r>
              <a:t>校验脚本 Validation Script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2240280"/>
            <a:ext cx="91440" cy="9144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194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数据创建/编辑时自动执行校验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2606040"/>
            <a:ext cx="91440" cy="9144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560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返回错误列表阻止非法提交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2971800"/>
            <a:ext cx="91440" cy="9144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可返回警告信息（不阻止提交）</a:t>
            </a:r>
          </a:p>
        </p:txBody>
      </p:sp>
      <p:sp>
        <p:nvSpPr>
          <p:cNvPr id="14" name="Oval 13"/>
          <p:cNvSpPr/>
          <p:nvPr/>
        </p:nvSpPr>
        <p:spPr>
          <a:xfrm>
            <a:off x="1188720" y="3337560"/>
            <a:ext cx="91440" cy="9144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291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可通过脚本自动设置关联关系</a:t>
            </a:r>
          </a:p>
        </p:txBody>
      </p:sp>
      <p:sp>
        <p:nvSpPr>
          <p:cNvPr id="16" name="Oval 15"/>
          <p:cNvSpPr/>
          <p:nvPr/>
        </p:nvSpPr>
        <p:spPr>
          <a:xfrm>
            <a:off x="1188720" y="3703320"/>
            <a:ext cx="91440" cy="9144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按 PageConfig 绑定，每页一个脚本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09EFF"/>
                </a:solidFill>
                <a:latin typeface="Microsoft YaHei"/>
              </a:defRPr>
            </a:pPr>
            <a:r>
              <a:t>脚本示例: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480560"/>
            <a:ext cx="4389120" cy="1645920"/>
          </a:xfrm>
          <a:prstGeom prst="roundRect">
            <a:avLst>
              <a:gd name="adj" fmla="val 8000"/>
            </a:avLst>
          </a:prstGeom>
          <a:solidFill>
            <a:srgbClr val="0D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57200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7C23A"/>
                </a:solidFill>
                <a:latin typeface="Consolas"/>
              </a:defRPr>
            </a:pPr>
            <a:r>
              <a:t>errors = []</a:t>
            </a:r>
            <a:br/>
            <a:r>
              <a:t>if not data.get('name'):</a:t>
            </a:r>
            <a:br/>
            <a:r>
              <a:t>    errors.append('名称不能为空')</a:t>
            </a:r>
            <a:br/>
            <a:r>
              <a:t>if data.get('score', 0) &gt; 100:</a:t>
            </a:r>
            <a:br/>
            <a:r>
              <a:t>    errors.append('分数不能超过100')</a:t>
            </a:r>
            <a:br/>
            <a:r>
              <a:t>return errors, warnings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554480"/>
            <a:ext cx="5029200" cy="47548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9050">
            <a:solidFill>
              <a:srgbClr val="E6A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A23C"/>
                </a:solidFill>
                <a:latin typeface="Microsoft YaHei"/>
              </a:defRPr>
            </a:pPr>
            <a:r>
              <a:t>导出脚本 Export Script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0" y="2240280"/>
            <a:ext cx="91440" cy="9144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2194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Python 脚本灵活定制导出格式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2606040"/>
            <a:ext cx="91440" cy="9144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2560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支持 JSON / CSV / XML / TXT / HTML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0" y="2971800"/>
            <a:ext cx="91440" cy="9144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页面级导出：批量导出全部数据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0" y="3337560"/>
            <a:ext cx="91440" cy="9144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3291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行级导出：单条记录定制导出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0" y="3703320"/>
            <a:ext cx="91440" cy="9144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6600" y="3657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按 PageConfig 绑定，可绑定多个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A23C"/>
                </a:solidFill>
                <a:latin typeface="Microsoft YaHei"/>
              </a:defRPr>
            </a:pPr>
            <a:r>
              <a:t>沙箱执行环境: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572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隔离命名空间执行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892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预注入 records / data / fields 变量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212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内置 query() 函数查询其他集合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532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CodeMirror 6 在线 Python 编辑器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852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语法高亮 + 自动缩进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10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权限与安全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基于角色的三级访问控制 (RBAC) + JWT 认证 + 操作审计，保障数据安全合规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34747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383280" cy="54864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6A23C"/>
                </a:solidFill>
                <a:latin typeface="Microsoft YaHei"/>
              </a:defRPr>
            </a:pPr>
            <a:r>
              <a:t>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管理员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A23C"/>
                </a:solidFill>
                <a:latin typeface="Microsoft YaHei"/>
              </a:defRPr>
            </a:pPr>
            <a:r>
              <a:t>完全访问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系统管理（菜单/配置/用户）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072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全部数据读写删除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9981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导入导出全功能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9242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数据对比与备份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850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审计日志查看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554480"/>
            <a:ext cx="3383280" cy="34747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554480"/>
            <a:ext cx="33832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09EFF"/>
                </a:solidFill>
                <a:latin typeface="Microsoft YaHei"/>
              </a:defRPr>
            </a:pPr>
            <a:r>
              <a:t>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开发者 Developer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09EFF"/>
                </a:solidFill>
                <a:latin typeface="Microsoft YaHei"/>
              </a:defRPr>
            </a:pPr>
            <a:r>
              <a:t>配置读写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5146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访问已授权的菜单页面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8072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数据读写操作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09981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导入导出功能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39242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脚本/ETL 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6850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无法管理用户和备份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1554480"/>
            <a:ext cx="3383280" cy="34747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80" y="1554480"/>
            <a:ext cx="3383280" cy="54864"/>
          </a:xfrm>
          <a:prstGeom prst="rect">
            <a:avLst/>
          </a:prstGeom>
          <a:solidFill>
            <a:srgbClr val="C0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0C4CC"/>
                </a:solidFill>
                <a:latin typeface="Microsoft YaHei"/>
              </a:defRPr>
            </a:pPr>
            <a:r>
              <a:t>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访客 Guest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只读访问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5146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浏览已授权页面数据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8072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搜索和筛选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09981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下载导出文件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39242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无增删改权限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6850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•  无导入和批量操作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安全机制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6692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14400" y="5806440"/>
            <a:ext cx="91440" cy="9144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57607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JWT Token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5760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Bearer Token 认证</a:t>
            </a:r>
            <a:br/>
            <a:r>
              <a:t>自动过期机制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56692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26280" y="5806440"/>
            <a:ext cx="91440" cy="9144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57607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菜单级权限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5760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按角色控制菜单可见性</a:t>
            </a:r>
            <a:br/>
            <a:r>
              <a:t>路由级访问保护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80" y="56692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38160" y="5806440"/>
            <a:ext cx="91440" cy="9144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57607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乐观锁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5760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_version 字段</a:t>
            </a:r>
            <a:br/>
            <a:r>
              <a:t>防止并发冲突覆盖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11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Open API 外部接口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为外部系统提供安全的数据访问接口，API Key 认证 + 按集合粒度开放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管理员生成 API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94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在 API 密钥管理页面</a:t>
            </a:r>
            <a:br/>
            <a:r>
              <a:t>生成 cm_ 前缀的密钥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901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配置公开集合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194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在 PageConfig 中</a:t>
            </a:r>
            <a:br/>
            <a:r>
              <a:t>开启 Open API 开关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645920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38160" y="1828800"/>
            <a:ext cx="457200" cy="45720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901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外部系统调用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194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携带 X-API-Key 头</a:t>
            </a:r>
            <a:br/>
            <a:r>
              <a:t>访问 RESTful 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接口规范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31920"/>
            <a:ext cx="5029200" cy="2560320"/>
          </a:xfrm>
          <a:prstGeom prst="roundRect">
            <a:avLst>
              <a:gd name="adj" fmla="val 8000"/>
            </a:avLst>
          </a:prstGeom>
          <a:solidFill>
            <a:srgbClr val="0D1325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2336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7C23A"/>
                </a:solidFill>
                <a:latin typeface="Consolas"/>
              </a:defRPr>
            </a:pPr>
            <a:r>
              <a:t># 请求示例</a:t>
            </a:r>
            <a:br/>
            <a:r>
              <a:t>GET /open-api/inspection-case</a:t>
            </a:r>
            <a:br/>
            <a:r>
              <a:t>Headers:</a:t>
            </a:r>
            <a:br/>
            <a:r>
              <a:t>  X-API-Key: cm_xxxxxx</a:t>
            </a:r>
            <a:br/>
            <a:br/>
            <a:r>
              <a:t># 响应格式</a:t>
            </a:r>
            <a:br/>
            <a:r>
              <a:t>[</a:t>
            </a:r>
            <a:br/>
            <a:r>
              <a:t>  { "id": "rec-001",</a:t>
            </a:r>
            <a:br/>
            <a:r>
              <a:t>    "data": { "name": "用例1" },</a:t>
            </a:r>
            <a:br/>
            <a:r>
              <a:t>    "created_at": "2024-01-01" }</a:t>
            </a:r>
            <a:br/>
            <a:r>
              <a:t>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931920"/>
            <a:ext cx="5029200" cy="256032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API 特性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0" y="4526280"/>
            <a:ext cx="91440" cy="9144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44805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认证方式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480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API Key (X-API-Key 请求头)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0" y="4892040"/>
            <a:ext cx="91440" cy="9144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48463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访问粒度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8463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按集合开放，每个集合独立控制</a:t>
            </a:r>
          </a:p>
        </p:txBody>
      </p:sp>
      <p:sp>
        <p:nvSpPr>
          <p:cNvPr id="32" name="Oval 31"/>
          <p:cNvSpPr/>
          <p:nvPr/>
        </p:nvSpPr>
        <p:spPr>
          <a:xfrm>
            <a:off x="6858000" y="5257800"/>
            <a:ext cx="91440" cy="9144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52120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数据格式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52120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RESTful JSON 响应</a:t>
            </a:r>
          </a:p>
        </p:txBody>
      </p:sp>
      <p:sp>
        <p:nvSpPr>
          <p:cNvPr id="35" name="Oval 34"/>
          <p:cNvSpPr/>
          <p:nvPr/>
        </p:nvSpPr>
        <p:spPr>
          <a:xfrm>
            <a:off x="6858000" y="5623560"/>
            <a:ext cx="91440" cy="91440"/>
          </a:xfrm>
          <a:prstGeom prst="ellipse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86600" y="55778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密钥管理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55778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管理员可随时生成/撤销密钥</a:t>
            </a:r>
          </a:p>
        </p:txBody>
      </p:sp>
      <p:sp>
        <p:nvSpPr>
          <p:cNvPr id="38" name="Oval 37"/>
          <p:cNvSpPr/>
          <p:nvPr/>
        </p:nvSpPr>
        <p:spPr>
          <a:xfrm>
            <a:off x="6858000" y="5989320"/>
            <a:ext cx="91440" cy="91440"/>
          </a:xfrm>
          <a:prstGeom prst="ellipse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59436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安全隔离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5943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仅可访问标记为公开的集合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12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备份与恢复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手动/自动备份 + 跨环境迁移 + 数据对比，保障数据安全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27432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905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9EFF"/>
                </a:solidFill>
                <a:latin typeface="Microsoft YaHei"/>
              </a:defRPr>
            </a:pPr>
            <a:r>
              <a:t>备份管理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2240280"/>
            <a:ext cx="91440" cy="9144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194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手动一键备份当前数据库快照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2578608"/>
            <a:ext cx="91440" cy="9144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5328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自动定时备份：小时 / 天 / 周 / 月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2916936"/>
            <a:ext cx="91440" cy="9144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8712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保留策略：可配置保留数量</a:t>
            </a:r>
          </a:p>
        </p:txBody>
      </p:sp>
      <p:sp>
        <p:nvSpPr>
          <p:cNvPr id="14" name="Oval 13"/>
          <p:cNvSpPr/>
          <p:nvPr/>
        </p:nvSpPr>
        <p:spPr>
          <a:xfrm>
            <a:off x="1188720" y="3255264"/>
            <a:ext cx="91440" cy="9144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2095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下载备份 .zip 文件到本地</a:t>
            </a:r>
          </a:p>
        </p:txBody>
      </p:sp>
      <p:sp>
        <p:nvSpPr>
          <p:cNvPr id="16" name="Oval 15"/>
          <p:cNvSpPr/>
          <p:nvPr/>
        </p:nvSpPr>
        <p:spPr>
          <a:xfrm>
            <a:off x="1188720" y="3593592"/>
            <a:ext cx="91440" cy="9144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5478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上传外部备份文件用于迁移</a:t>
            </a:r>
          </a:p>
        </p:txBody>
      </p:sp>
      <p:sp>
        <p:nvSpPr>
          <p:cNvPr id="18" name="Oval 17"/>
          <p:cNvSpPr/>
          <p:nvPr/>
        </p:nvSpPr>
        <p:spPr>
          <a:xfrm>
            <a:off x="1188720" y="3931920"/>
            <a:ext cx="91440" cy="9144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3886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一键恢复至任意历史版本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554480"/>
            <a:ext cx="5029200" cy="27432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9050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7C23A"/>
                </a:solidFill>
                <a:latin typeface="Microsoft YaHei"/>
              </a:defRPr>
            </a:pPr>
            <a:r>
              <a:t>数据对比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2240280"/>
            <a:ext cx="91440" cy="9144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2194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当前数据 vs 任意历史备份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0" y="2578608"/>
            <a:ext cx="91440" cy="9144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25328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两个备份版本之间的对比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0" y="2916936"/>
            <a:ext cx="91440" cy="9144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28712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字段级差异追踪（旧值 → 新值）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3255264"/>
            <a:ext cx="91440" cy="9144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32095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新增 / 修改 / 删除 分类标记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0" y="3593592"/>
            <a:ext cx="91440" cy="9144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35478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变更字段高亮显示</a:t>
            </a:r>
          </a:p>
        </p:txBody>
      </p:sp>
      <p:sp>
        <p:nvSpPr>
          <p:cNvPr id="32" name="Oval 31"/>
          <p:cNvSpPr/>
          <p:nvPr/>
        </p:nvSpPr>
        <p:spPr>
          <a:xfrm>
            <a:off x="6858000" y="3931920"/>
            <a:ext cx="91440" cy="9144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3886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4CC"/>
                </a:solidFill>
                <a:latin typeface="Microsoft YaHei"/>
              </a:defRPr>
            </a:pPr>
            <a:r>
              <a:t>对比结果导出 Excel 报告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自动备份调度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9377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4937760"/>
            <a:ext cx="2560320" cy="4572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074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每小时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349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09EFF"/>
                </a:solidFill>
                <a:latin typeface="Consolas"/>
              </a:defRPr>
            </a:pPr>
            <a:r>
              <a:t>hourly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6692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高频变更</a:t>
            </a:r>
            <a:br/>
            <a:r>
              <a:t>实时数据安全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20440" y="49377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20440" y="4937760"/>
            <a:ext cx="2560320" cy="4572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03320" y="5074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每天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5349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7C23A"/>
                </a:solidFill>
                <a:latin typeface="Consolas"/>
              </a:defRPr>
            </a:pPr>
            <a:r>
              <a:t>daily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56692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日常运营</a:t>
            </a:r>
            <a:br/>
            <a:r>
              <a:t>推荐默认方案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49377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4937760"/>
            <a:ext cx="2560320" cy="4572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5074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每周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349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A23C"/>
                </a:solidFill>
                <a:latin typeface="Consolas"/>
              </a:defRPr>
            </a:pPr>
            <a:r>
              <a:t>weekly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6692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中等频率</a:t>
            </a:r>
            <a:br/>
            <a:r>
              <a:t>节省存储空间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98280" y="49377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98280" y="4937760"/>
            <a:ext cx="2560320" cy="45720"/>
          </a:xfrm>
          <a:prstGeom prst="rect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1160" y="5074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每月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5349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09BF5"/>
                </a:solidFill>
                <a:latin typeface="Consolas"/>
              </a:defRPr>
            </a:pPr>
            <a:r>
              <a:t>monthly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60" y="56692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长期归档</a:t>
            </a:r>
            <a:br/>
            <a:r>
              <a:t>合规审计需求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13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操作审计日志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完整记录所有数据变更操作，多维度查询与分析，满足合规审计需求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记录的操作类型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691640" cy="82296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45720" cy="82296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创建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新增记录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39" y="1920240"/>
            <a:ext cx="1691640" cy="82296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39" y="1920240"/>
            <a:ext cx="45720" cy="82296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199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199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编辑记录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8" y="1920240"/>
            <a:ext cx="1691640" cy="82296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58" y="1920240"/>
            <a:ext cx="45720" cy="822960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18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删除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18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删除记录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7" y="1920240"/>
            <a:ext cx="1691640" cy="82296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77" y="1920240"/>
            <a:ext cx="45720" cy="82296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37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导入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37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批量导入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6" y="1920240"/>
            <a:ext cx="1691640" cy="82296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596" y="1920240"/>
            <a:ext cx="45720" cy="822960"/>
          </a:xfrm>
          <a:prstGeom prst="rect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56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导出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6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数据导出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15" y="1920240"/>
            <a:ext cx="1691640" cy="82296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04115" y="1920240"/>
            <a:ext cx="45720" cy="822960"/>
          </a:xfrm>
          <a:prstGeom prst="rect">
            <a:avLst/>
          </a:prstGeom>
          <a:solidFill>
            <a:srgbClr val="337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75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备份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75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备份/恢复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多维度查询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3832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520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9EFF"/>
                </a:solidFill>
                <a:latin typeface="Microsoft YaHei"/>
              </a:defRPr>
            </a:pPr>
            <a:r>
              <a:t>日期范围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按时间段筛选操作记录</a:t>
            </a:r>
            <a:br/>
            <a:r>
              <a:t>快速定位特定时间的变更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0440" y="33832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03320" y="3520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9EFF"/>
                </a:solidFill>
                <a:latin typeface="Microsoft YaHei"/>
              </a:defRPr>
            </a:pPr>
            <a:r>
              <a:t>操作类型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按创建/更新/删除/导入等类型</a:t>
            </a:r>
            <a:br/>
            <a:r>
              <a:t>筛选特定类型的操作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33832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520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9EFF"/>
                </a:solidFill>
                <a:latin typeface="Microsoft YaHei"/>
              </a:defRPr>
            </a:pPr>
            <a:r>
              <a:t>目标类型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按数据集合（业务模块）</a:t>
            </a:r>
            <a:br/>
            <a:r>
              <a:t>查看特定模块的操作历史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33832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3520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9EFF"/>
                </a:solidFill>
                <a:latin typeface="Microsoft YaHei"/>
              </a:defRPr>
            </a:pPr>
            <a:r>
              <a:t>操作人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按执行人筛选</a:t>
            </a:r>
            <a:br/>
            <a:r>
              <a:t>追踪特定用户的操作行为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特色功能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394960"/>
            <a:ext cx="3383280" cy="128016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14400" y="5532120"/>
            <a:ext cx="109728" cy="109728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批次分组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806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关联操作自动聚合</a:t>
            </a:r>
            <a:br/>
            <a:r>
              <a:t>如：批量导入的所有记录</a:t>
            </a:r>
            <a:br/>
            <a:r>
              <a:t>统一 Batch ID 标识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43400" y="5394960"/>
            <a:ext cx="3383280" cy="128016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526280" y="5532120"/>
            <a:ext cx="109728" cy="109728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变更详情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80" y="5806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记录每个字段的变更</a:t>
            </a:r>
            <a:br/>
            <a:r>
              <a:t>旧值 → 新值 对比</a:t>
            </a:r>
            <a:br/>
            <a:r>
              <a:t>字段标签 + 显示名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55280" y="5394960"/>
            <a:ext cx="3383280" cy="128016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138160" y="5532120"/>
            <a:ext cx="109728" cy="109728"/>
          </a:xfrm>
          <a:prstGeom prst="ellipse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6676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导出报告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5806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筛选结果导出 Excel</a:t>
            </a:r>
            <a:br/>
            <a:r>
              <a:t>完整操作轨迹</a:t>
            </a:r>
            <a:br/>
            <a:r>
              <a:t>满足合规审计要求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0C4CC"/>
                </a:solidFill>
                <a:latin typeface="Microsoft YaHei"/>
              </a:defRPr>
            </a:pPr>
            <a:r>
              <a:t>14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4CC"/>
                </a:solidFill>
                <a:latin typeface="Microsoft YaHei"/>
              </a:defRPr>
            </a:pPr>
            <a:r>
              <a:t>10 个管理页面，覆盖系统配置、数据工具、运维管理全流程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103120" cy="22860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103120" cy="4572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1783080"/>
            <a:ext cx="548640" cy="54864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856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菜单管理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可视化树形编辑</a:t>
            </a:r>
            <a:br/>
            <a:r>
              <a:t>1-3 级层级菜单</a:t>
            </a:r>
            <a:br/>
            <a:r>
              <a:t>角色可见性控制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554480"/>
            <a:ext cx="2103120" cy="22860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554480"/>
            <a:ext cx="2103120" cy="4572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4720" y="1783080"/>
            <a:ext cx="548640" cy="54864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856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页面配置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8346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字段架构定义</a:t>
            </a:r>
            <a:br/>
            <a:r>
              <a:t>17 种控件类型</a:t>
            </a:r>
            <a:br/>
            <a:r>
              <a:t>绑定脚本/API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554480"/>
            <a:ext cx="2103120" cy="22860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1554480"/>
            <a:ext cx="2103120" cy="4572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720" y="1783080"/>
            <a:ext cx="548640" cy="54864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1856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用户管理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8346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三级角色体系</a:t>
            </a:r>
            <a:br/>
            <a:r>
              <a:t>账号增删改</a:t>
            </a:r>
            <a:br/>
            <a:r>
              <a:t>密码重置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554480"/>
            <a:ext cx="2103120" cy="22860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1554480"/>
            <a:ext cx="2103120" cy="45720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0" y="1783080"/>
            <a:ext cx="548640" cy="548640"/>
          </a:xfrm>
          <a:prstGeom prst="ellipse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1856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导出脚本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8346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Python 自定义导出</a:t>
            </a:r>
            <a:br/>
            <a:r>
              <a:t>5 种输出格式</a:t>
            </a:r>
            <a:br/>
            <a:r>
              <a:t>页面级/行级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1554480"/>
            <a:ext cx="2103120" cy="22860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0" y="1554480"/>
            <a:ext cx="2103120" cy="45720"/>
          </a:xfrm>
          <a:prstGeom prst="rect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32720" y="1783080"/>
            <a:ext cx="548640" cy="548640"/>
          </a:xfrm>
          <a:prstGeom prst="ellipse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0" y="1856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校验脚本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28346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数据校验规则</a:t>
            </a:r>
            <a:br/>
            <a:r>
              <a:t>阻止非法提交</a:t>
            </a:r>
            <a:br/>
            <a:r>
              <a:t>返回警告信息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114800"/>
            <a:ext cx="2103120" cy="22860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114800"/>
            <a:ext cx="2103120" cy="45720"/>
          </a:xfrm>
          <a:prstGeom prst="rect">
            <a:avLst/>
          </a:prstGeom>
          <a:solidFill>
            <a:srgbClr val="337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88720" y="4343400"/>
            <a:ext cx="548640" cy="548640"/>
          </a:xfrm>
          <a:prstGeom prst="ellipse">
            <a:avLst/>
          </a:prstGeom>
          <a:solidFill>
            <a:srgbClr val="337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44165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ETL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029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ETL 任务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394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数据管道编排</a:t>
            </a:r>
            <a:br/>
            <a:r>
              <a:t>6 种步骤类型</a:t>
            </a:r>
            <a:br/>
            <a:r>
              <a:t>试运行/执行日志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4114800"/>
            <a:ext cx="2103120" cy="22860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0" y="4114800"/>
            <a:ext cx="2103120" cy="45720"/>
          </a:xfrm>
          <a:prstGeom prst="rect">
            <a:avLst/>
          </a:prstGeom>
          <a:solidFill>
            <a:srgbClr val="E0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74720" y="4343400"/>
            <a:ext cx="548640" cy="548640"/>
          </a:xfrm>
          <a:prstGeom prst="ellipse">
            <a:avLst/>
          </a:prstGeom>
          <a:solidFill>
            <a:srgbClr val="E0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0" y="44165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0360" y="5029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API 密钥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5394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Open API 管理</a:t>
            </a:r>
            <a:br/>
            <a:r>
              <a:t>密钥生成/撤销</a:t>
            </a:r>
            <a:br/>
            <a:r>
              <a:t>外部系统接入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0" y="4114800"/>
            <a:ext cx="2103120" cy="22860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4114800"/>
            <a:ext cx="2103120" cy="45720"/>
          </a:xfrm>
          <a:prstGeom prst="rect">
            <a:avLst/>
          </a:prstGeom>
          <a:solidFill>
            <a:srgbClr val="6CB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760720" y="4343400"/>
            <a:ext cx="548640" cy="548640"/>
          </a:xfrm>
          <a:prstGeom prst="ellipse">
            <a:avLst/>
          </a:prstGeom>
          <a:solidFill>
            <a:srgbClr val="6CB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0" y="44165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6360" y="5029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操作日志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5394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全操作审计</a:t>
            </a:r>
            <a:br/>
            <a:r>
              <a:t>多维度查询</a:t>
            </a:r>
            <a:br/>
            <a:r>
              <a:t>导出报告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0" y="4114800"/>
            <a:ext cx="2103120" cy="22860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15200" y="4114800"/>
            <a:ext cx="2103120" cy="45720"/>
          </a:xfrm>
          <a:prstGeom prst="rect">
            <a:avLst/>
          </a:prstGeom>
          <a:solidFill>
            <a:srgbClr val="E0C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046720" y="4343400"/>
            <a:ext cx="548640" cy="548640"/>
          </a:xfrm>
          <a:prstGeom prst="ellipse">
            <a:avLst/>
          </a:prstGeom>
          <a:solidFill>
            <a:srgbClr val="E0C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46720" y="44165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52360" y="5029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备份管理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5394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手动/自动备份</a:t>
            </a:r>
            <a:br/>
            <a:r>
              <a:t>恢复/下载/上传</a:t>
            </a:r>
            <a:br/>
            <a:r>
              <a:t>定时调度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01200" y="4114800"/>
            <a:ext cx="2103120" cy="2286000"/>
          </a:xfrm>
          <a:prstGeom prst="roundRect">
            <a:avLst>
              <a:gd name="adj" fmla="val 8000"/>
            </a:avLst>
          </a:prstGeom>
          <a:solidFill>
            <a:srgbClr val="232D4A"/>
          </a:solidFill>
          <a:ln w="12700">
            <a:solidFill>
              <a:srgbClr val="30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01200" y="4114800"/>
            <a:ext cx="2103120" cy="45720"/>
          </a:xfrm>
          <a:prstGeom prst="rect">
            <a:avLst/>
          </a:prstGeom>
          <a:solidFill>
            <a:srgbClr val="6C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332720" y="4343400"/>
            <a:ext cx="548640" cy="548640"/>
          </a:xfrm>
          <a:prstGeom prst="ellipse">
            <a:avLst/>
          </a:prstGeom>
          <a:solidFill>
            <a:srgbClr val="6CE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32720" y="44165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38360" y="5029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数据对比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38360" y="53949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C4CC"/>
                </a:solidFill>
                <a:latin typeface="Microsoft YaHei"/>
              </a:defRPr>
            </a:pPr>
            <a:r>
              <a:t>备份快照对比</a:t>
            </a:r>
            <a:br/>
            <a:r>
              <a:t>字段级差异</a:t>
            </a:r>
            <a:br/>
            <a:r>
              <a:t>变更高亮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371600"/>
            <a:ext cx="4114800" cy="411480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0"/>
            <a:ext cx="2743200" cy="2743200"/>
          </a:xfrm>
          <a:prstGeom prst="ellipse">
            <a:avLst/>
          </a:prstGeom>
          <a:solidFill>
            <a:srgbClr val="244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平台核心优势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463040"/>
            <a:ext cx="137160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1810512"/>
            <a:ext cx="128016" cy="128016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737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配置驱动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373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4CC"/>
                </a:solidFill>
                <a:latin typeface="Microsoft YaHei"/>
              </a:defRPr>
            </a:pPr>
            <a:r>
              <a:t>零代码扩展新业务模块，无需数据库迁移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2267712"/>
            <a:ext cx="128016" cy="128016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17 种控件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945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4CC"/>
                </a:solidFill>
                <a:latin typeface="Microsoft YaHei"/>
              </a:defRPr>
            </a:pPr>
            <a:r>
              <a:t>覆盖文本、选择、文件、关联、自动字段等全场景</a:t>
            </a:r>
          </a:p>
        </p:txBody>
      </p:sp>
      <p:sp>
        <p:nvSpPr>
          <p:cNvPr id="14" name="Oval 13"/>
          <p:cNvSpPr/>
          <p:nvPr/>
        </p:nvSpPr>
        <p:spPr>
          <a:xfrm>
            <a:off x="1280160" y="2724912"/>
            <a:ext cx="128016" cy="128016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651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三种关联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517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4CC"/>
                </a:solidFill>
                <a:latin typeface="Microsoft YaHei"/>
              </a:defRPr>
            </a:pPr>
            <a:r>
              <a:t>M:N 双向 + 父子引用 + 单向引用，灵活数据建模</a:t>
            </a:r>
          </a:p>
        </p:txBody>
      </p:sp>
      <p:sp>
        <p:nvSpPr>
          <p:cNvPr id="17" name="Oval 16"/>
          <p:cNvSpPr/>
          <p:nvPr/>
        </p:nvSpPr>
        <p:spPr>
          <a:xfrm>
            <a:off x="1280160" y="3182112"/>
            <a:ext cx="128016" cy="128016"/>
          </a:xfrm>
          <a:prstGeom prst="ellipse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108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ETL 管道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1089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4CC"/>
                </a:solidFill>
                <a:latin typeface="Microsoft YaHei"/>
              </a:defRPr>
            </a:pPr>
            <a:r>
              <a:t>6 种步骤类型可视化编排，试运行 + 执行日志</a:t>
            </a:r>
          </a:p>
        </p:txBody>
      </p:sp>
      <p:sp>
        <p:nvSpPr>
          <p:cNvPr id="20" name="Oval 19"/>
          <p:cNvSpPr/>
          <p:nvPr/>
        </p:nvSpPr>
        <p:spPr>
          <a:xfrm>
            <a:off x="1280160" y="3639312"/>
            <a:ext cx="128016" cy="128016"/>
          </a:xfrm>
          <a:prstGeom prst="ellipse">
            <a:avLst/>
          </a:prstGeom>
          <a:solidFill>
            <a:srgbClr val="9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脚本引擎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5661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4CC"/>
                </a:solidFill>
                <a:latin typeface="Microsoft YaHei"/>
              </a:defRPr>
            </a:pPr>
            <a:r>
              <a:t>Python 沙箱执行校验与导出脚本，CodeMirror 在线编辑</a:t>
            </a:r>
          </a:p>
        </p:txBody>
      </p:sp>
      <p:sp>
        <p:nvSpPr>
          <p:cNvPr id="23" name="Oval 22"/>
          <p:cNvSpPr/>
          <p:nvPr/>
        </p:nvSpPr>
        <p:spPr>
          <a:xfrm>
            <a:off x="1280160" y="4096512"/>
            <a:ext cx="128016" cy="128016"/>
          </a:xfrm>
          <a:prstGeom prst="ellipse">
            <a:avLst/>
          </a:prstGeom>
          <a:solidFill>
            <a:srgbClr val="337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4023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权限体系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0233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4CC"/>
                </a:solidFill>
                <a:latin typeface="Microsoft YaHei"/>
              </a:defRPr>
            </a:pPr>
            <a:r>
              <a:t>三级 RBAC + JWT 认证 + 菜单级权限 + 乐观锁</a:t>
            </a:r>
          </a:p>
        </p:txBody>
      </p:sp>
      <p:sp>
        <p:nvSpPr>
          <p:cNvPr id="26" name="Oval 25"/>
          <p:cNvSpPr/>
          <p:nvPr/>
        </p:nvSpPr>
        <p:spPr>
          <a:xfrm>
            <a:off x="1280160" y="4553712"/>
            <a:ext cx="128016" cy="128016"/>
          </a:xfrm>
          <a:prstGeom prst="ellipse">
            <a:avLst/>
          </a:prstGeom>
          <a:solidFill>
            <a:srgbClr val="6CB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4480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审计追踪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4805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4CC"/>
                </a:solidFill>
                <a:latin typeface="Microsoft YaHei"/>
              </a:defRPr>
            </a:pPr>
            <a:r>
              <a:t>全操作记录、批次分组、多维查询、导出报告</a:t>
            </a:r>
          </a:p>
        </p:txBody>
      </p:sp>
      <p:sp>
        <p:nvSpPr>
          <p:cNvPr id="29" name="Oval 28"/>
          <p:cNvSpPr/>
          <p:nvPr/>
        </p:nvSpPr>
        <p:spPr>
          <a:xfrm>
            <a:off x="1280160" y="5010912"/>
            <a:ext cx="128016" cy="128016"/>
          </a:xfrm>
          <a:prstGeom prst="ellipse">
            <a:avLst/>
          </a:prstGeom>
          <a:solidFill>
            <a:srgbClr val="E0C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4937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备份恢复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9377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4CC"/>
                </a:solidFill>
                <a:latin typeface="Microsoft YaHei"/>
              </a:defRPr>
            </a:pPr>
            <a:r>
              <a:t>手动/自动备份、跨环境迁移、字段级数据对比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5486400"/>
            <a:ext cx="10058400" cy="36576"/>
          </a:xfrm>
          <a:prstGeom prst="rect">
            <a:avLst/>
          </a:prstGeom>
          <a:solidFill>
            <a:srgbClr val="303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9EFF"/>
                </a:solidFill>
                <a:latin typeface="Microsoft YaHei"/>
              </a:defRPr>
            </a:pPr>
            <a:r>
              <a:t>质量保障：326 前端测试 (Vitest) + 241 后端测试 (Pytest) = 567 单元测试全覆盖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6217920"/>
            <a:ext cx="960120" cy="310896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623620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9EFF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" y="6217920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40280" y="62362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9EFF"/>
                </a:solidFill>
                <a:latin typeface="Microsoft YaHei"/>
              </a:defRPr>
            </a:pPr>
            <a:r>
              <a:t>TypeScript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86200" y="6217920"/>
            <a:ext cx="1792224" cy="310896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0" y="6236208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9EFF"/>
                </a:solidFill>
                <a:latin typeface="Microsoft YaHei"/>
              </a:defRPr>
            </a:pPr>
            <a:r>
              <a:t>Element Plus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15584" y="6217920"/>
            <a:ext cx="960120" cy="310896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61304" y="623620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9EFF"/>
                </a:solidFill>
                <a:latin typeface="Microsoft YaHei"/>
              </a:defRPr>
            </a:pPr>
            <a:r>
              <a:t>Flask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12864" y="6217920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58584" y="62362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9EFF"/>
                </a:solidFill>
                <a:latin typeface="Microsoft YaHei"/>
              </a:defRPr>
            </a:pPr>
            <a:r>
              <a:t>PostgreSQL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04504" y="6217920"/>
            <a:ext cx="1673352" cy="310896"/>
          </a:xfrm>
          <a:prstGeom prst="roundRect">
            <a:avLst>
              <a:gd name="adj" fmla="val 8000"/>
            </a:avLst>
          </a:prstGeom>
          <a:solidFill>
            <a:srgbClr val="2A3A5C"/>
          </a:solidFill>
          <a:ln w="12700">
            <a:solidFill>
              <a:srgbClr val="40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50224" y="6236208"/>
            <a:ext cx="1581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09EFF"/>
                </a:solidFill>
                <a:latin typeface="Microsoft YaHei"/>
              </a:defRPr>
            </a:pPr>
            <a:r>
              <a:t>force-graph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