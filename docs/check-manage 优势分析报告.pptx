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Arial"/>
              </a:defRPr>
            </a:pPr>
            <a:r>
              <a:t>check-manage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86868B"/>
                </a:solidFill>
                <a:latin typeface="Arial"/>
              </a:defRPr>
            </a:pPr>
            <a:r>
              <a:t>配置驱动的动态数据管理平台</a:t>
            </a:r>
            <a:br/>
            <a:r>
              <a:t>优势分析报告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Arial"/>
              </a:defRPr>
            </a:pPr>
            <a:r>
              <a:t>当前痛点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800">
                <a:solidFill>
                  <a:srgbClr val="FFFFFF"/>
                </a:solidFill>
                <a:latin typeface="Arial"/>
              </a:defRPr>
            </a:pPr>
            <a:r>
              <a:t>•  版本管理混乱，无法确定最新文件</a:t>
            </a:r>
          </a:p>
          <a:p>
            <a:pPr>
              <a:spcAft>
                <a:spcPts val="2400"/>
              </a:spcAft>
              <a:defRPr sz="2800">
                <a:solidFill>
                  <a:srgbClr val="FFFFFF"/>
                </a:solidFill>
                <a:latin typeface="Arial"/>
              </a:defRPr>
            </a:pPr>
            <a:r>
              <a:t>•  协作效率低下（锁表等待）</a:t>
            </a:r>
          </a:p>
          <a:p>
            <a:pPr>
              <a:spcAft>
                <a:spcPts val="2400"/>
              </a:spcAft>
              <a:defRPr sz="2800">
                <a:solidFill>
                  <a:srgbClr val="FFFFFF"/>
                </a:solidFill>
                <a:latin typeface="Arial"/>
              </a:defRPr>
            </a:pPr>
            <a:r>
              <a:t>•  修订记录依赖人工，可靠性低</a:t>
            </a:r>
          </a:p>
          <a:p>
            <a:pPr>
              <a:spcAft>
                <a:spcPts val="2400"/>
              </a:spcAft>
              <a:defRPr sz="2800">
                <a:solidFill>
                  <a:srgbClr val="FFFFFF"/>
                </a:solidFill>
                <a:latin typeface="Arial"/>
              </a:defRPr>
            </a:pPr>
            <a:r>
              <a:t>•  无 API 接口，定制化开发困难</a:t>
            </a:r>
          </a:p>
          <a:p>
            <a:pPr>
              <a:spcAft>
                <a:spcPts val="2400"/>
              </a:spcAft>
              <a:defRPr sz="2800">
                <a:solidFill>
                  <a:srgbClr val="FFFFFF"/>
                </a:solidFill>
                <a:latin typeface="Arial"/>
              </a:defRPr>
            </a:pPr>
            <a:r>
              <a:t>•  转换工具散落各处，版本各异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Arial"/>
              </a:defRPr>
            </a:pPr>
            <a:r>
              <a:t>核心结论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71E3"/>
                </a:solidFill>
                <a:latin typeface="Arial"/>
              </a:defRPr>
            </a:pPr>
            <a:r>
              <a:t>5 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6868B"/>
                </a:solidFill>
                <a:latin typeface="Arial"/>
              </a:defRPr>
            </a:pPr>
            <a:r>
              <a:t>协作效率提升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64592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71E3"/>
                </a:solidFill>
                <a:latin typeface="Arial"/>
              </a:defRPr>
            </a:pPr>
            <a:r>
              <a:t>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603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6868B"/>
                </a:solidFill>
                <a:latin typeface="Arial"/>
              </a:defRPr>
            </a:pPr>
            <a:r>
              <a:t>数据错误率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64592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71E3"/>
                </a:solidFill>
                <a:latin typeface="Arial"/>
              </a:defRPr>
            </a:pPr>
            <a:r>
              <a:t>1 分钟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5603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6868B"/>
                </a:solidFill>
                <a:latin typeface="Arial"/>
              </a:defRPr>
            </a:pPr>
            <a:r>
              <a:t>版本对比时间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93192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71E3"/>
                </a:solidFill>
                <a:latin typeface="Arial"/>
              </a:defRPr>
            </a:pPr>
            <a:r>
              <a:t>2 小时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8463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6868B"/>
                </a:solidFill>
                <a:latin typeface="Arial"/>
              </a:defRPr>
            </a:pPr>
            <a:r>
              <a:t>新人上手时间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93192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71E3"/>
                </a:solidFill>
                <a:latin typeface="Arial"/>
              </a:defRPr>
            </a:pPr>
            <a:r>
              <a:t>59%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8463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6868B"/>
                </a:solidFill>
                <a:latin typeface="Arial"/>
              </a:defRPr>
            </a:pPr>
            <a:r>
              <a:t>第一年 ROI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93192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71E3"/>
                </a:solidFill>
                <a:latin typeface="Arial"/>
              </a:defRPr>
            </a:pPr>
            <a:r>
              <a:t>6-12 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8463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6868B"/>
                </a:solidFill>
                <a:latin typeface="Arial"/>
              </a:defRPr>
            </a:pPr>
            <a:r>
              <a:t>投资回收期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协作效率对比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5029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86868B"/>
                </a:solidFill>
                <a:latin typeface="Arial"/>
              </a:defRPr>
            </a:pPr>
            <a:r>
              <a:t>传统方式：50 分钟</a:t>
            </a:r>
            <a:br/>
            <a:r>
              <a:t>（串行等待）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6695" y="2286000"/>
            <a:ext cx="5029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A84FF"/>
                </a:solidFill>
                <a:latin typeface="Arial"/>
              </a:defRPr>
            </a:pPr>
            <a:r>
              <a:t>check-manage: 10 分钟</a:t>
            </a:r>
            <a:br/>
            <a:r>
              <a:t>（并行协作）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0"/>
            <a:ext cx="108200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71E3"/>
                </a:solidFill>
                <a:latin typeface="Arial"/>
              </a:defRPr>
            </a:pPr>
            <a:r>
              <a:t>效率提升 5 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Arial"/>
              </a:defRPr>
            </a:pPr>
            <a:r>
              <a:t>数据质量保障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800">
                <a:solidFill>
                  <a:srgbClr val="FFFFFF"/>
                </a:solidFill>
                <a:latin typeface="Arial"/>
              </a:defRPr>
            </a:pPr>
            <a:r>
              <a:t>•  15 种控件类型约束输入</a:t>
            </a:r>
          </a:p>
          <a:p>
            <a:pPr>
              <a:spcAft>
                <a:spcPts val="2400"/>
              </a:spcAft>
              <a:defRPr sz="2800">
                <a:solidFill>
                  <a:srgbClr val="FFFFFF"/>
                </a:solidFill>
                <a:latin typeface="Arial"/>
              </a:defRPr>
            </a:pPr>
            <a:r>
              <a:t>•  Python 校验脚本自动执行</a:t>
            </a:r>
          </a:p>
          <a:p>
            <a:pPr>
              <a:spcAft>
                <a:spcPts val="2400"/>
              </a:spcAft>
              <a:defRPr sz="2800">
                <a:solidFill>
                  <a:srgbClr val="FFFFFF"/>
                </a:solidFill>
                <a:latin typeface="Arial"/>
              </a:defRPr>
            </a:pPr>
            <a:r>
              <a:t>•  关联关系自动维护双向同步</a:t>
            </a:r>
          </a:p>
          <a:p>
            <a:pPr>
              <a:spcAft>
                <a:spcPts val="2400"/>
              </a:spcAft>
              <a:defRPr sz="2800">
                <a:solidFill>
                  <a:srgbClr val="FFFFFF"/>
                </a:solidFill>
                <a:latin typeface="Arial"/>
              </a:defRPr>
            </a:pPr>
            <a:r>
              <a:t>•  错误率从 15% 降至 1%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Arial"/>
              </a:defRPr>
            </a:pPr>
            <a:r>
              <a:t>版本管理革新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800">
                <a:solidFill>
                  <a:srgbClr val="FFFFFF"/>
                </a:solidFill>
                <a:latin typeface="Arial"/>
              </a:defRPr>
            </a:pPr>
            <a:r>
              <a:t>•  单一数据源，自动版本管理</a:t>
            </a:r>
          </a:p>
          <a:p>
            <a:pPr>
              <a:spcAft>
                <a:spcPts val="2400"/>
              </a:spcAft>
              <a:defRPr sz="2800">
                <a:solidFill>
                  <a:srgbClr val="FFFFFF"/>
                </a:solidFill>
                <a:latin typeface="Arial"/>
              </a:defRPr>
            </a:pPr>
            <a:r>
              <a:t>•  内置数据对比，逐字段高亮</a:t>
            </a:r>
          </a:p>
          <a:p>
            <a:pPr>
              <a:spcAft>
                <a:spcPts val="2400"/>
              </a:spcAft>
              <a:defRPr sz="2800">
                <a:solidFill>
                  <a:srgbClr val="FFFFFF"/>
                </a:solidFill>
                <a:latin typeface="Arial"/>
              </a:defRPr>
            </a:pPr>
            <a:r>
              <a:t>•  一键还原到任意历史版本</a:t>
            </a:r>
          </a:p>
          <a:p>
            <a:pPr>
              <a:spcAft>
                <a:spcPts val="2400"/>
              </a:spcAft>
              <a:defRPr sz="2800">
                <a:solidFill>
                  <a:srgbClr val="FFFFFF"/>
                </a:solidFill>
                <a:latin typeface="Arial"/>
              </a:defRPr>
            </a:pPr>
            <a:r>
              <a:t>•  定时备份 + 手动备份，支持迁移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Arial"/>
              </a:defRPr>
            </a:pPr>
            <a:r>
              <a:t>工具统一化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800">
                <a:solidFill>
                  <a:srgbClr val="FFFFFF"/>
                </a:solidFill>
                <a:latin typeface="Arial"/>
              </a:defRPr>
            </a:pPr>
            <a:r>
              <a:t>•  定制化导出能力，统一脚本管理</a:t>
            </a:r>
          </a:p>
          <a:p>
            <a:pPr>
              <a:spcAft>
                <a:spcPts val="2400"/>
              </a:spcAft>
              <a:defRPr sz="2800">
                <a:solidFill>
                  <a:srgbClr val="FFFFFF"/>
                </a:solidFill>
                <a:latin typeface="Arial"/>
              </a:defRPr>
            </a:pPr>
            <a:r>
              <a:t>•  Python 脚本沙箱，安全可控</a:t>
            </a:r>
          </a:p>
          <a:p>
            <a:pPr>
              <a:spcAft>
                <a:spcPts val="2400"/>
              </a:spcAft>
              <a:defRPr sz="2800">
                <a:solidFill>
                  <a:srgbClr val="FFFFFF"/>
                </a:solidFill>
                <a:latin typeface="Arial"/>
              </a:defRPr>
            </a:pPr>
            <a:r>
              <a:t>•  脚本与页面解耦，跨配置复用</a:t>
            </a:r>
          </a:p>
          <a:p>
            <a:pPr>
              <a:spcAft>
                <a:spcPts val="2400"/>
              </a:spcAft>
              <a:defRPr sz="2800">
                <a:solidFill>
                  <a:srgbClr val="FFFFFF"/>
                </a:solidFill>
                <a:latin typeface="Arial"/>
              </a:defRPr>
            </a:pPr>
            <a:r>
              <a:t>•  降低维护成本，版本追溯完整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Arial"/>
              </a:defRPr>
            </a:pPr>
            <a:r>
              <a:t>投资回报率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71E3"/>
                </a:solidFill>
                <a:latin typeface="Arial"/>
              </a:defRPr>
            </a:pPr>
            <a:r>
              <a:t>79.5 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6868B"/>
                </a:solidFill>
                <a:latin typeface="Arial"/>
              </a:defRPr>
            </a:pPr>
            <a:r>
              <a:t>年度收益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64592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71E3"/>
                </a:solidFill>
                <a:latin typeface="Arial"/>
              </a:defRPr>
            </a:pPr>
            <a:r>
              <a:t>50 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5603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6868B"/>
                </a:solidFill>
                <a:latin typeface="Arial"/>
              </a:defRPr>
            </a:pPr>
            <a:r>
              <a:t>开发成本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64592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71E3"/>
                </a:solidFill>
                <a:latin typeface="Arial"/>
              </a:defRPr>
            </a:pPr>
            <a:r>
              <a:t>59%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5603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6868B"/>
                </a:solidFill>
                <a:latin typeface="Arial"/>
              </a:defRPr>
            </a:pPr>
            <a:r>
              <a:t>第一年 ROI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93192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71E3"/>
                </a:solidFill>
                <a:latin typeface="Arial"/>
              </a:defRPr>
            </a:pPr>
            <a:r>
              <a:t>82.5 万→3 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8463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6868B"/>
                </a:solidFill>
                <a:latin typeface="Arial"/>
              </a:defRPr>
            </a:pPr>
            <a:r>
              <a:t>年度成本对比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93192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71E3"/>
                </a:solidFill>
                <a:latin typeface="Arial"/>
              </a:defRPr>
            </a:pPr>
            <a:r>
              <a:t>6-12 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8463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6868B"/>
                </a:solidFill>
                <a:latin typeface="Arial"/>
              </a:defRPr>
            </a:pPr>
            <a:r>
              <a:t>投资回收期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93192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71E3"/>
                </a:solidFill>
                <a:latin typeface="Arial"/>
              </a:defRPr>
            </a:pPr>
            <a:r>
              <a:t>10 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8463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6868B"/>
                </a:solidFill>
                <a:latin typeface="Arial"/>
              </a:defRPr>
            </a:pPr>
            <a:r>
              <a:t>团队规模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0"/>
            <a:ext cx="108200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Arial"/>
              </a:defRPr>
            </a:pPr>
            <a:r>
              <a:t>核心优势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114800"/>
            <a:ext cx="108200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71E3"/>
                </a:solidFill>
                <a:latin typeface="Arial"/>
              </a:defRPr>
            </a:pPr>
            <a:r>
              <a:t>协作效率 × 数据质量 × 版本管理 × 开发扩展 × 工具统一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0"/>
            <a:ext cx="108200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FFFFFF"/>
                </a:solidFill>
                <a:latin typeface="Arial"/>
              </a:defRPr>
            </a:pPr>
            <a:r>
              <a:t>推荐采用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5720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6868B"/>
                </a:solidFill>
                <a:latin typeface="Arial"/>
              </a:defRPr>
            </a:pPr>
            <a:r>
              <a:t>check-manage 替代传统配置管理方式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