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0" y="4389120"/>
            <a:ext cx="4876495" cy="18288"/>
          </a:xfrm>
          <a:prstGeom prst="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  <a:latin typeface="Arial"/>
              </a:defRPr>
            </a:pPr>
            <a:r>
              <a:t>check-manage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86868B"/>
                </a:solidFill>
                <a:latin typeface="Arial"/>
              </a:defRPr>
            </a:pPr>
            <a:r>
              <a:t>配置驱动的动态数据管理平台</a:t>
            </a:r>
            <a:br/>
            <a:r>
              <a:t>优势分析报告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7432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  <a:latin typeface="Arial"/>
              </a:defRPr>
            </a:pPr>
            <a:r>
              <a:t>当前痛点</a:t>
            </a:r>
          </a:p>
        </p:txBody>
      </p:sp>
      <p:sp>
        <p:nvSpPr>
          <p:cNvPr id="3" name="Oval 2"/>
          <p:cNvSpPr/>
          <p:nvPr/>
        </p:nvSpPr>
        <p:spPr>
          <a:xfrm>
            <a:off x="914400" y="1371600"/>
            <a:ext cx="274320" cy="274320"/>
          </a:xfrm>
          <a:prstGeom prst="ellipse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版本管理混乱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137160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86868B"/>
                </a:solidFill>
                <a:latin typeface="Arial"/>
              </a:defRPr>
            </a:pPr>
            <a:r>
              <a:t>文件命名：最终版、真正最终版...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2423160"/>
            <a:ext cx="274320" cy="274320"/>
          </a:xfrm>
          <a:prstGeom prst="ellipse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423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协作效率低下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42316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86868B"/>
                </a:solidFill>
                <a:latin typeface="Arial"/>
              </a:defRPr>
            </a:pPr>
            <a:r>
              <a:t>锁表等待，5 人串行 50 分钟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474720"/>
            <a:ext cx="274320" cy="274320"/>
          </a:xfrm>
          <a:prstGeom prst="ellipse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4747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修订记录缺失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47472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86868B"/>
                </a:solidFill>
                <a:latin typeface="Arial"/>
              </a:defRPr>
            </a:pPr>
            <a:r>
              <a:t>依赖人工，完整率仅 60%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4526279"/>
            <a:ext cx="274320" cy="274320"/>
          </a:xfrm>
          <a:prstGeom prst="ellipse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4526279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无 API 接口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4526279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86868B"/>
                </a:solidFill>
                <a:latin typeface="Arial"/>
              </a:defRPr>
            </a:pPr>
            <a:r>
              <a:t>无法程序化访问，定制困难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5577840"/>
            <a:ext cx="274320" cy="274320"/>
          </a:xfrm>
          <a:prstGeom prst="ellipse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55778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工具散乱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557784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86868B"/>
                </a:solidFill>
                <a:latin typeface="Arial"/>
              </a:defRPr>
            </a:pPr>
            <a:r>
              <a:t>各自维护，版本格式不一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7432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  <a:latin typeface="Arial"/>
              </a:defRPr>
            </a:pPr>
            <a:r>
              <a:t>核心结论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463040"/>
            <a:ext cx="3474720" cy="2103120"/>
          </a:xfrm>
          <a:prstGeom prst="round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91640"/>
            <a:ext cx="2926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0A84FF"/>
                </a:solidFill>
                <a:latin typeface="Arial"/>
              </a:defRPr>
            </a:pPr>
            <a:r>
              <a:t>5 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5146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协作效率提升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92608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6868B"/>
                </a:solidFill>
                <a:latin typeface="Arial"/>
              </a:defRPr>
            </a:pPr>
            <a:r>
              <a:t>50 分钟→10 分钟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0" y="1463040"/>
            <a:ext cx="3474720" cy="2103120"/>
          </a:xfrm>
          <a:prstGeom prst="round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0" y="1691640"/>
            <a:ext cx="2926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0A84FF"/>
                </a:solidFill>
                <a:latin typeface="Arial"/>
              </a:defRPr>
            </a:pPr>
            <a:r>
              <a:t>93%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25146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错误率降低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292608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6868B"/>
                </a:solidFill>
                <a:latin typeface="Arial"/>
              </a:defRPr>
            </a:pPr>
            <a:r>
              <a:t>15%→1%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78240" y="1463040"/>
            <a:ext cx="3474720" cy="2103120"/>
          </a:xfrm>
          <a:prstGeom prst="round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0" y="1691640"/>
            <a:ext cx="2926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0A84FF"/>
                </a:solidFill>
                <a:latin typeface="Arial"/>
              </a:defRPr>
            </a:pPr>
            <a:r>
              <a:t>60 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25146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版本对比加速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92608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6868B"/>
                </a:solidFill>
                <a:latin typeface="Arial"/>
              </a:defRPr>
            </a:pPr>
            <a:r>
              <a:t>1 小时→1 分钟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3840480"/>
            <a:ext cx="3474720" cy="2103120"/>
          </a:xfrm>
          <a:prstGeom prst="round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4069080"/>
            <a:ext cx="2926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0A84FF"/>
                </a:solidFill>
                <a:latin typeface="Arial"/>
              </a:defRPr>
            </a:pPr>
            <a:r>
              <a:t>10 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89204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学习成本降低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30352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6868B"/>
                </a:solidFill>
                <a:latin typeface="Arial"/>
              </a:defRPr>
            </a:pPr>
            <a:r>
              <a:t>2 周→2 小时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37760" y="3840480"/>
            <a:ext cx="3474720" cy="2103120"/>
          </a:xfrm>
          <a:prstGeom prst="round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12080" y="4069080"/>
            <a:ext cx="2926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0A84FF"/>
                </a:solidFill>
                <a:latin typeface="Arial"/>
              </a:defRPr>
            </a:pPr>
            <a:r>
              <a:t>59%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489204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第一年 ROI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530352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6868B"/>
                </a:solidFill>
                <a:latin typeface="Arial"/>
              </a:defRPr>
            </a:pPr>
            <a:r>
              <a:t>投资 50 万收益 79.5 万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778240" y="3840480"/>
            <a:ext cx="3474720" cy="2103120"/>
          </a:xfrm>
          <a:prstGeom prst="round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0" y="4069080"/>
            <a:ext cx="2926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0A84FF"/>
                </a:solidFill>
                <a:latin typeface="Arial"/>
              </a:defRPr>
            </a:pPr>
            <a:r>
              <a:t>6-12 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489204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投资回收期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530352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6868B"/>
                </a:solidFill>
                <a:latin typeface="Arial"/>
              </a:defRPr>
            </a:pPr>
            <a:r>
              <a:t>之后持续收益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74320"/>
            <a:ext cx="108200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  <a:latin typeface="Arial"/>
              </a:defRPr>
            </a:pPr>
            <a:r>
              <a:t>协作效率对比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60704" y="1188720"/>
          <a:ext cx="100584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566160"/>
                <a:gridCol w="3566160"/>
              </a:tblGrid>
              <a:tr h="838200"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对比维度</a:t>
                      </a:r>
                    </a:p>
                  </a:txBody>
                  <a:tcPr>
                    <a:solidFill>
                      <a:srgbClr val="0071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传统方式</a:t>
                      </a:r>
                    </a:p>
                  </a:txBody>
                  <a:tcPr>
                    <a:solidFill>
                      <a:srgbClr val="0071E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check-manage</a:t>
                      </a:r>
                    </a:p>
                  </a:txBody>
                  <a:tcPr>
                    <a:solidFill>
                      <a:srgbClr val="0071E3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A84FF"/>
                          </a:solidFill>
                          <a:latin typeface="Arial"/>
                        </a:defRPr>
                      </a:pPr>
                      <a:r>
                        <a:t>并发编辑</a:t>
                      </a:r>
                    </a:p>
                  </a:txBody>
                  <a:tcPr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锁表机制，串行等待</a:t>
                      </a:r>
                    </a:p>
                  </a:txBody>
                  <a:tcPr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多人并行，自动处理</a:t>
                      </a:r>
                    </a:p>
                  </a:txBody>
                  <a:tcPr>
                    <a:solidFill>
                      <a:srgbClr val="444444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A84FF"/>
                          </a:solidFill>
                          <a:latin typeface="Arial"/>
                        </a:defRPr>
                      </a:pPr>
                      <a:r>
                        <a:t>数据刷新</a:t>
                      </a:r>
                    </a:p>
                  </a:txBody>
                  <a:tcPr>
                    <a:solidFill>
                      <a:srgbClr val="8686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手动刷新</a:t>
                      </a:r>
                    </a:p>
                  </a:txBody>
                  <a:tcPr>
                    <a:solidFill>
                      <a:srgbClr val="8686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实时同步</a:t>
                      </a:r>
                    </a:p>
                  </a:txBody>
                  <a:tcPr>
                    <a:solidFill>
                      <a:srgbClr val="86868B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A84FF"/>
                          </a:solidFill>
                          <a:latin typeface="Arial"/>
                        </a:defRPr>
                      </a:pPr>
                      <a:r>
                        <a:t>修订追踪</a:t>
                      </a:r>
                    </a:p>
                  </a:txBody>
                  <a:tcPr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人工记录 (60% 完整率)</a:t>
                      </a:r>
                    </a:p>
                  </a:txBody>
                  <a:tcPr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自动审计 (100% 完整)</a:t>
                      </a:r>
                    </a:p>
                  </a:txBody>
                  <a:tcPr>
                    <a:solidFill>
                      <a:srgbClr val="444444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A84FF"/>
                          </a:solidFill>
                          <a:latin typeface="Arial"/>
                        </a:defRPr>
                      </a:pPr>
                      <a:r>
                        <a:t>访问接口</a:t>
                      </a:r>
                    </a:p>
                  </a:txBody>
                  <a:tcPr>
                    <a:solidFill>
                      <a:srgbClr val="8686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无 API</a:t>
                      </a:r>
                    </a:p>
                  </a:txBody>
                  <a:tcPr>
                    <a:solidFill>
                      <a:srgbClr val="86868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REST API + Open API</a:t>
                      </a:r>
                    </a:p>
                  </a:txBody>
                  <a:tcPr>
                    <a:solidFill>
                      <a:srgbClr val="86868B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l">
                        <a:defRPr sz="1800">
                          <a:solidFill>
                            <a:srgbClr val="0A84FF"/>
                          </a:solidFill>
                          <a:latin typeface="Arial"/>
                        </a:defRPr>
                      </a:pPr>
                      <a:r>
                        <a:t>5 人协作耗时</a:t>
                      </a:r>
                    </a:p>
                  </a:txBody>
                  <a:tcPr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50 分钟</a:t>
                      </a:r>
                    </a:p>
                  </a:txBody>
                  <a:tcPr>
                    <a:solidFill>
                      <a:srgbClr val="44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34C759"/>
                          </a:solidFill>
                          <a:latin typeface="Arial"/>
                        </a:defRPr>
                      </a:pPr>
                      <a:r>
                        <a:t>10 分钟</a:t>
                      </a:r>
                    </a:p>
                  </a:txBody>
                  <a:tcPr>
                    <a:solidFill>
                      <a:srgbClr val="44444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74320"/>
            <a:ext cx="108200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  <a:latin typeface="Arial"/>
              </a:defRPr>
            </a:pPr>
            <a:r>
              <a:t>工作流程对比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86868B"/>
                </a:solidFill>
                <a:latin typeface="Arial"/>
              </a:defRPr>
            </a:pPr>
            <a:r>
              <a:t>传统方式（串行）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4572000" cy="64008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  <a:latin typeface="Arial"/>
              </a:defRPr>
            </a:pPr>
            <a:r>
              <a:t>获取锁</a:t>
            </a:r>
          </a:p>
        </p:txBody>
      </p:sp>
      <p:sp>
        <p:nvSpPr>
          <p:cNvPr id="5" name="Down Arrow 4"/>
          <p:cNvSpPr/>
          <p:nvPr/>
        </p:nvSpPr>
        <p:spPr>
          <a:xfrm>
            <a:off x="2971800" y="2286000"/>
            <a:ext cx="457200" cy="365760"/>
          </a:xfrm>
          <a:prstGeom prst="downArrow">
            <a:avLst/>
          </a:prstGeom>
          <a:solidFill>
            <a:srgbClr val="868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468880"/>
            <a:ext cx="4572000" cy="64008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  <a:latin typeface="Arial"/>
              </a:defRPr>
            </a:pPr>
            <a:r>
              <a:t>编辑 10 分钟</a:t>
            </a:r>
          </a:p>
        </p:txBody>
      </p:sp>
      <p:sp>
        <p:nvSpPr>
          <p:cNvPr id="7" name="Down Arrow 6"/>
          <p:cNvSpPr/>
          <p:nvPr/>
        </p:nvSpPr>
        <p:spPr>
          <a:xfrm>
            <a:off x="2971800" y="3108960"/>
            <a:ext cx="457200" cy="365760"/>
          </a:xfrm>
          <a:prstGeom prst="downArrow">
            <a:avLst/>
          </a:prstGeom>
          <a:solidFill>
            <a:srgbClr val="868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3291840"/>
            <a:ext cx="4572000" cy="64008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  <a:latin typeface="Arial"/>
              </a:defRPr>
            </a:pPr>
            <a:r>
              <a:t>释放锁</a:t>
            </a:r>
          </a:p>
        </p:txBody>
      </p:sp>
      <p:sp>
        <p:nvSpPr>
          <p:cNvPr id="9" name="Down Arrow 8"/>
          <p:cNvSpPr/>
          <p:nvPr/>
        </p:nvSpPr>
        <p:spPr>
          <a:xfrm>
            <a:off x="2971800" y="3931920"/>
            <a:ext cx="457200" cy="365760"/>
          </a:xfrm>
          <a:prstGeom prst="downArrow">
            <a:avLst/>
          </a:prstGeom>
          <a:solidFill>
            <a:srgbClr val="868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4114800"/>
            <a:ext cx="4572000" cy="64008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  <a:latin typeface="Arial"/>
              </a:defRPr>
            </a:pPr>
            <a:r>
              <a:t>等待...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2971800" y="4754880"/>
            <a:ext cx="457200" cy="365760"/>
          </a:xfrm>
          <a:prstGeom prst="downArrow">
            <a:avLst/>
          </a:prstGeom>
          <a:solidFill>
            <a:srgbClr val="868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4937760"/>
            <a:ext cx="4572000" cy="640080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  <a:latin typeface="Arial"/>
              </a:defRPr>
            </a:pPr>
            <a:r>
              <a:t>总耗时 50 分钟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6695" y="10972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A84FF"/>
                </a:solidFill>
                <a:latin typeface="Arial"/>
              </a:defRPr>
            </a:pPr>
            <a:r>
              <a:t>check-manage（并行）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05295" y="1645920"/>
            <a:ext cx="4572000" cy="640080"/>
          </a:xfrm>
          <a:prstGeom prst="round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  <a:latin typeface="Arial"/>
              </a:defRPr>
            </a:pPr>
            <a:r>
              <a:t>用户 A 编辑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8762695" y="2286000"/>
            <a:ext cx="457200" cy="365760"/>
          </a:xfrm>
          <a:prstGeom prst="downArrow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705295" y="2468880"/>
            <a:ext cx="4572000" cy="640080"/>
          </a:xfrm>
          <a:prstGeom prst="round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  <a:latin typeface="Arial"/>
              </a:defRPr>
            </a:pPr>
            <a:r>
              <a:t>用户 B 编辑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8762695" y="3108960"/>
            <a:ext cx="457200" cy="365760"/>
          </a:xfrm>
          <a:prstGeom prst="downArrow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05295" y="3291840"/>
            <a:ext cx="4572000" cy="640080"/>
          </a:xfrm>
          <a:prstGeom prst="round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  <a:latin typeface="Arial"/>
              </a:defRPr>
            </a:pPr>
            <a:r>
              <a:t>用户 C 编辑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8762695" y="3931920"/>
            <a:ext cx="457200" cy="365760"/>
          </a:xfrm>
          <a:prstGeom prst="downArrow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705295" y="4114800"/>
            <a:ext cx="4572000" cy="640080"/>
          </a:xfrm>
          <a:prstGeom prst="round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  <a:latin typeface="Arial"/>
              </a:defRPr>
            </a:pPr>
            <a:r>
              <a:t>自动同步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8762695" y="4754880"/>
            <a:ext cx="457200" cy="365760"/>
          </a:xfrm>
          <a:prstGeom prst="downArrow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705295" y="4937760"/>
            <a:ext cx="4572000" cy="640080"/>
          </a:xfrm>
          <a:prstGeom prst="round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  <a:latin typeface="Arial"/>
              </a:defRPr>
            </a:pPr>
            <a:r>
              <a:t>总耗时 10 分钟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7607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34C759"/>
                </a:solidFill>
                <a:latin typeface="Arial"/>
              </a:defRPr>
            </a:pPr>
            <a:r>
              <a:t>效率提升 5 倍 | 等待时间降至 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74320"/>
            <a:ext cx="108200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  <a:latin typeface="Arial"/>
              </a:defRPr>
            </a:pPr>
            <a:r>
              <a:t>技术架构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1371600"/>
            <a:ext cx="8534095" cy="1371600"/>
          </a:xfrm>
          <a:prstGeom prst="roundRect">
            <a:avLst/>
          </a:prstGeom>
          <a:solidFill>
            <a:srgbClr val="007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03120" y="164592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前端 (Vue 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214884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  <a:latin typeface="Arial"/>
              </a:defRPr>
            </a:pPr>
            <a:r>
              <a:t>Element Plus + Pinia + Vue Router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3017520"/>
            <a:ext cx="8534095" cy="1371600"/>
          </a:xfrm>
          <a:prstGeom prst="round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03120" y="3291839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后端 (Flask)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3794759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  <a:latin typeface="Arial"/>
              </a:defRPr>
            </a:pPr>
            <a:r>
              <a:t>Blueprint 路由 + JWT 认证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4663440"/>
            <a:ext cx="8534095" cy="1371600"/>
          </a:xfrm>
          <a:prstGeom prst="round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0" y="4937759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数据库 (PostgreSQL)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5440679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  <a:latin typeface="Arial"/>
              </a:defRPr>
            </a:pPr>
            <a:r>
              <a:t>13 张表 + JSONB 灵活存储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5852160" y="2743200"/>
            <a:ext cx="457200" cy="457200"/>
          </a:xfrm>
          <a:prstGeom prst="downArrow">
            <a:avLst/>
          </a:prstGeom>
          <a:solidFill>
            <a:srgbClr val="868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own Arrow 12"/>
          <p:cNvSpPr/>
          <p:nvPr/>
        </p:nvSpPr>
        <p:spPr>
          <a:xfrm>
            <a:off x="5852160" y="4389120"/>
            <a:ext cx="457200" cy="457200"/>
          </a:xfrm>
          <a:prstGeom prst="downArrow">
            <a:avLst/>
          </a:prstGeom>
          <a:solidFill>
            <a:srgbClr val="868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283464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86868B"/>
                </a:solidFill>
                <a:latin typeface="Arial"/>
              </a:defRPr>
            </a:pPr>
            <a:r>
              <a:t>HTTP API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74320"/>
            <a:ext cx="108200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  <a:latin typeface="Arial"/>
              </a:defRPr>
            </a:pPr>
            <a:r>
              <a:t>投资回报率分析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828800"/>
            <a:ext cx="4114800" cy="2743200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86868B"/>
                </a:solidFill>
                <a:latin typeface="Arial"/>
              </a:defRPr>
            </a:pPr>
            <a:r>
              <a:t>传统方式</a:t>
            </a:r>
          </a:p>
          <a:p>
            <a:r>
              <a:t>82.5 万元/年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4114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Arial"/>
              </a:defRPr>
            </a:pPr>
            <a:r>
              <a:t>82.5 万</a:t>
            </a:r>
          </a:p>
        </p:txBody>
      </p:sp>
      <p:sp>
        <p:nvSpPr>
          <p:cNvPr id="6" name="Rectangle 5"/>
          <p:cNvSpPr/>
          <p:nvPr/>
        </p:nvSpPr>
        <p:spPr>
          <a:xfrm>
            <a:off x="6705295" y="1828800"/>
            <a:ext cx="4114800" cy="457200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05295" y="137160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86868B"/>
                </a:solidFill>
                <a:latin typeface="Arial"/>
              </a:defRPr>
            </a:pPr>
            <a:r>
              <a:t>check-manage</a:t>
            </a:r>
          </a:p>
          <a:p>
            <a:r>
              <a:t>3 万元/年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05295" y="1920240"/>
            <a:ext cx="4114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Arial"/>
              </a:defRPr>
            </a:pPr>
            <a:r>
              <a:t>3 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0292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34C759"/>
                </a:solidFill>
                <a:latin typeface="Arial"/>
              </a:defRPr>
            </a:pPr>
            <a:r>
              <a:t>年度节省 79.5 万元 | 第一年 ROI 59% | 回收期 6-12 个月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371600"/>
            <a:ext cx="108200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600" b="1">
                <a:solidFill>
                  <a:srgbClr val="FFFFFF"/>
                </a:solidFill>
                <a:latin typeface="Arial"/>
              </a:defRPr>
            </a:pPr>
            <a:r>
              <a:t>推荐采用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657600"/>
            <a:ext cx="108200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0071E3"/>
                </a:solidFill>
                <a:latin typeface="Arial"/>
              </a:defRPr>
            </a:pPr>
            <a:r>
              <a:t>check-manage 替代传统配置管理方式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98348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4C759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98348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86868B"/>
                </a:solidFill>
                <a:latin typeface="Arial"/>
              </a:defRPr>
            </a:pPr>
            <a:r>
              <a:t>协作效率 5 倍提升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498348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4C759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498348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86868B"/>
                </a:solidFill>
                <a:latin typeface="Arial"/>
              </a:defRPr>
            </a:pPr>
            <a:r>
              <a:t>数据错误率降至 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498348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4C759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498348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86868B"/>
                </a:solidFill>
                <a:latin typeface="Arial"/>
              </a:defRPr>
            </a:pPr>
            <a:r>
              <a:t>工具统一化管理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59" y="498348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4C759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59" y="498348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86868B"/>
                </a:solidFill>
                <a:latin typeface="Arial"/>
              </a:defRPr>
            </a:pPr>
            <a:r>
              <a:t>年度收益 79.5 万元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